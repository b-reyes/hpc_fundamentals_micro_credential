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34"/>
  </p:notesMasterIdLst>
  <p:sldIdLst>
    <p:sldId id="256" r:id="rId5"/>
    <p:sldId id="293" r:id="rId6"/>
    <p:sldId id="328" r:id="rId7"/>
    <p:sldId id="329" r:id="rId8"/>
    <p:sldId id="333" r:id="rId9"/>
    <p:sldId id="331" r:id="rId10"/>
    <p:sldId id="334" r:id="rId11"/>
    <p:sldId id="339" r:id="rId12"/>
    <p:sldId id="301" r:id="rId13"/>
    <p:sldId id="350" r:id="rId14"/>
    <p:sldId id="305" r:id="rId15"/>
    <p:sldId id="307" r:id="rId16"/>
    <p:sldId id="315" r:id="rId17"/>
    <p:sldId id="304" r:id="rId18"/>
    <p:sldId id="276" r:id="rId19"/>
    <p:sldId id="352" r:id="rId20"/>
    <p:sldId id="338" r:id="rId21"/>
    <p:sldId id="341" r:id="rId22"/>
    <p:sldId id="340" r:id="rId23"/>
    <p:sldId id="346" r:id="rId24"/>
    <p:sldId id="347" r:id="rId25"/>
    <p:sldId id="343" r:id="rId26"/>
    <p:sldId id="345" r:id="rId27"/>
    <p:sldId id="309" r:id="rId28"/>
    <p:sldId id="310" r:id="rId29"/>
    <p:sldId id="314" r:id="rId30"/>
    <p:sldId id="336" r:id="rId31"/>
    <p:sldId id="337" r:id="rId32"/>
    <p:sldId id="26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02822-EBBB-5382-6B04-72E147B02EC9}" v="17" dt="2023-09-22T20:12:20.769"/>
    <p1510:client id="{28A24C42-AE70-D513-7692-462818A7254A}" v="516" dt="2023-09-22T20:43:03.053"/>
    <p1510:client id="{835F0FA0-205C-B232-36F2-F1E401FA8B23}" v="395" dt="2023-09-25T23:16:15.008"/>
    <p1510:client id="{92B7EA9E-583E-5BB4-11C8-8419C9BF2CCC}" v="7" dt="2023-09-22T20:23:23.707"/>
    <p1510:client id="{A5700998-5699-F33C-9C87-7637F270F93A}" v="55" dt="2023-09-25T23:12:15.817"/>
    <p1510:client id="{ADC240E8-7624-9189-E4C3-7D302C2F6D6C}" v="446" dt="2023-09-22T21:04:43.686"/>
    <p1510:client id="{B0FA4742-F7F0-D424-A690-1EEC87CA7F43}" v="215" dt="2023-09-22T21:33:27.765"/>
    <p1510:client id="{B9790212-A95F-E12E-7D5A-DE2F19977368}" v="4" dt="2023-09-22T20:12:19.263"/>
    <p1510:client id="{EE44B60D-03CE-0124-2121-40D6A561FE99}" v="35" dt="2023-09-22T20:21:11.849"/>
    <p1510:client id="{FAB3E3E5-F9FA-4C13-B9C9-19DF20260881}" v="140" dt="2023-09-22T20:21:55.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42"/>
    <p:restoredTop sz="97228"/>
  </p:normalViewPr>
  <p:slideViewPr>
    <p:cSldViewPr snapToGrid="0">
      <p:cViewPr varScale="1">
        <p:scale>
          <a:sx n="167" d="100"/>
          <a:sy n="167" d="100"/>
        </p:scale>
        <p:origin x="60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9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DA08D6-E137-3341-A5EE-84219A24203E}" type="datetimeFigureOut">
              <a:rPr lang="en-US" smtClean="0"/>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6901F-C6C3-9E47-9843-744856EDDD7A}" type="slidenum">
              <a:rPr lang="en-US" smtClean="0"/>
              <a:t>‹#›</a:t>
            </a:fld>
            <a:endParaRPr lang="en-US"/>
          </a:p>
        </p:txBody>
      </p:sp>
    </p:spTree>
    <p:extLst>
      <p:ext uri="{BB962C8B-B14F-4D97-AF65-F5344CB8AC3E}">
        <p14:creationId xmlns:p14="http://schemas.microsoft.com/office/powerpoint/2010/main" val="384540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a:t>
            </a:fld>
            <a:endParaRPr lang="en-US"/>
          </a:p>
        </p:txBody>
      </p:sp>
    </p:spTree>
    <p:extLst>
      <p:ext uri="{BB962C8B-B14F-4D97-AF65-F5344CB8AC3E}">
        <p14:creationId xmlns:p14="http://schemas.microsoft.com/office/powerpoint/2010/main" val="4103780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3</a:t>
            </a:fld>
            <a:endParaRPr lang="en-US"/>
          </a:p>
        </p:txBody>
      </p:sp>
    </p:spTree>
    <p:extLst>
      <p:ext uri="{BB962C8B-B14F-4D97-AF65-F5344CB8AC3E}">
        <p14:creationId xmlns:p14="http://schemas.microsoft.com/office/powerpoint/2010/main" val="4113179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sinteractive</a:t>
            </a:r>
            <a:r>
              <a:rPr lang="en-US" dirty="0"/>
              <a:t> --partition=</a:t>
            </a:r>
            <a:r>
              <a:rPr lang="en-US" dirty="0" err="1"/>
              <a:t>atesting</a:t>
            </a:r>
            <a:r>
              <a:rPr lang="en-US" dirty="0"/>
              <a:t> --</a:t>
            </a:r>
            <a:r>
              <a:rPr lang="en-US" dirty="0" err="1"/>
              <a:t>qos</a:t>
            </a:r>
            <a:r>
              <a:rPr lang="en-US" dirty="0"/>
              <a:t>=testing --time=90:00 --</a:t>
            </a:r>
            <a:r>
              <a:rPr lang="en-US" dirty="0" err="1"/>
              <a:t>ntasks</a:t>
            </a:r>
            <a:r>
              <a:rPr lang="en-US" dirty="0"/>
              <a:t>=1</a:t>
            </a:r>
          </a:p>
        </p:txBody>
      </p:sp>
      <p:sp>
        <p:nvSpPr>
          <p:cNvPr id="4" name="Slide Number Placeholder 3"/>
          <p:cNvSpPr>
            <a:spLocks noGrp="1"/>
          </p:cNvSpPr>
          <p:nvPr>
            <p:ph type="sldNum" sz="quarter" idx="5"/>
          </p:nvPr>
        </p:nvSpPr>
        <p:spPr/>
        <p:txBody>
          <a:bodyPr/>
          <a:lstStyle/>
          <a:p>
            <a:fld id="{A926901F-C6C3-9E47-9843-744856EDDD7A}" type="slidenum">
              <a:rPr lang="en-US" smtClean="0"/>
              <a:t>4</a:t>
            </a:fld>
            <a:endParaRPr lang="en-US"/>
          </a:p>
        </p:txBody>
      </p:sp>
    </p:spTree>
    <p:extLst>
      <p:ext uri="{BB962C8B-B14F-4D97-AF65-F5344CB8AC3E}">
        <p14:creationId xmlns:p14="http://schemas.microsoft.com/office/powerpoint/2010/main" val="3203807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see what </a:t>
            </a:r>
            <a:r>
              <a:rPr lang="en-US" dirty="0" err="1"/>
              <a:t>lmod</a:t>
            </a:r>
            <a:r>
              <a:rPr lang="en-US" dirty="0"/>
              <a:t> is doing to manage the software environment.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Goal: demonstrate the different compiler-dependent software are available when load each of these different compilers. The packages have been compiled against the respective versions.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out difference between specifying default and specifying version.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out ‘change’ method.</a:t>
            </a:r>
          </a:p>
          <a:p>
            <a:endParaRPr lang="en-US" dirty="0"/>
          </a:p>
          <a:p>
            <a:br>
              <a:rPr lang="en-US" dirty="0"/>
            </a:br>
            <a:br>
              <a:rPr lang="en-US" dirty="0"/>
            </a:br>
            <a:r>
              <a:rPr lang="en-US" dirty="0"/>
              <a:t>Here we are loading different versions of the HDF5 library. They are different in that they were compiled with different compilers, so we want our environment variables to reflect that. It would be a total pain if we had to do that manually, but luckily the </a:t>
            </a:r>
            <a:r>
              <a:rPr lang="en-US" dirty="0" err="1"/>
              <a:t>lmod</a:t>
            </a:r>
            <a:r>
              <a:rPr lang="en-US" dirty="0"/>
              <a:t> module system does that for us.</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5</a:t>
            </a:fld>
            <a:endParaRPr lang="en-US"/>
          </a:p>
        </p:txBody>
      </p:sp>
    </p:spTree>
    <p:extLst>
      <p:ext uri="{BB962C8B-B14F-4D97-AF65-F5344CB8AC3E}">
        <p14:creationId xmlns:p14="http://schemas.microsoft.com/office/powerpoint/2010/main" val="335839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6</a:t>
            </a:fld>
            <a:endParaRPr lang="en-US"/>
          </a:p>
        </p:txBody>
      </p:sp>
    </p:spTree>
    <p:extLst>
      <p:ext uri="{BB962C8B-B14F-4D97-AF65-F5344CB8AC3E}">
        <p14:creationId xmlns:p14="http://schemas.microsoft.com/office/powerpoint/2010/main" val="2901899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7</a:t>
            </a:fld>
            <a:endParaRPr lang="en-US"/>
          </a:p>
        </p:txBody>
      </p:sp>
    </p:spTree>
    <p:extLst>
      <p:ext uri="{BB962C8B-B14F-4D97-AF65-F5344CB8AC3E}">
        <p14:creationId xmlns:p14="http://schemas.microsoft.com/office/powerpoint/2010/main" val="142016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Demo:</a:t>
            </a:r>
          </a:p>
          <a:p>
            <a:r>
              <a:rPr lang="en-US" dirty="0"/>
              <a:t>-which python</a:t>
            </a:r>
          </a:p>
          <a:p>
            <a:r>
              <a:rPr lang="en-US" dirty="0"/>
              <a:t>-show how </a:t>
            </a:r>
            <a:r>
              <a:rPr lang="en-US" dirty="0" err="1"/>
              <a:t>conda</a:t>
            </a:r>
            <a:r>
              <a:rPr lang="en-US" dirty="0"/>
              <a:t> environment is organized</a:t>
            </a:r>
          </a:p>
          <a:p>
            <a:r>
              <a:rPr lang="en-US" dirty="0"/>
              <a:t>-start python </a:t>
            </a:r>
          </a:p>
          <a:p>
            <a:r>
              <a:rPr lang="en-US" dirty="0"/>
              <a:t>-import pandas (show error)</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11</a:t>
            </a:fld>
            <a:endParaRPr lang="en-US"/>
          </a:p>
        </p:txBody>
      </p:sp>
    </p:spTree>
    <p:extLst>
      <p:ext uri="{BB962C8B-B14F-4D97-AF65-F5344CB8AC3E}">
        <p14:creationId xmlns:p14="http://schemas.microsoft.com/office/powerpoint/2010/main" val="93819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Demo:</a:t>
            </a:r>
          </a:p>
          <a:p>
            <a:r>
              <a:rPr lang="en-US" dirty="0"/>
              <a:t>cd /projects/lafr9499/software/</a:t>
            </a:r>
            <a:r>
              <a:rPr lang="en-US" dirty="0" err="1"/>
              <a:t>my_first_env</a:t>
            </a:r>
            <a:r>
              <a:rPr lang="en-US" dirty="0"/>
              <a:t>/lib/python3.10/site-packages (point out pandas in that </a:t>
            </a:r>
            <a:r>
              <a:rPr lang="en-US" dirty="0" err="1"/>
              <a:t>dir</a:t>
            </a:r>
            <a:r>
              <a:rPr lang="en-US" dirty="0"/>
              <a:t>)</a:t>
            </a:r>
          </a:p>
          <a:p>
            <a:r>
              <a:rPr lang="en-US" dirty="0"/>
              <a:t>pip uninstall </a:t>
            </a:r>
          </a:p>
          <a:p>
            <a:r>
              <a:rPr lang="en-US" dirty="0"/>
              <a:t>ls (show no more pandas)</a:t>
            </a:r>
          </a:p>
          <a:p>
            <a:r>
              <a:rPr lang="en-US" dirty="0"/>
              <a:t>then do </a:t>
            </a:r>
            <a:r>
              <a:rPr lang="en-US" dirty="0" err="1"/>
              <a:t>conda</a:t>
            </a:r>
            <a:r>
              <a:rPr lang="en-US" dirty="0"/>
              <a:t> install </a:t>
            </a:r>
          </a:p>
          <a:p>
            <a:r>
              <a:rPr lang="en-US" dirty="0"/>
              <a:t>ls (show pandas there)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13</a:t>
            </a:fld>
            <a:endParaRPr lang="en-US"/>
          </a:p>
        </p:txBody>
      </p:sp>
    </p:spTree>
    <p:extLst>
      <p:ext uri="{BB962C8B-B14F-4D97-AF65-F5344CB8AC3E}">
        <p14:creationId xmlns:p14="http://schemas.microsoft.com/office/powerpoint/2010/main" val="1111859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17</a:t>
            </a:fld>
            <a:endParaRPr lang="en-US"/>
          </a:p>
        </p:txBody>
      </p:sp>
    </p:spTree>
    <p:extLst>
      <p:ext uri="{BB962C8B-B14F-4D97-AF65-F5344CB8AC3E}">
        <p14:creationId xmlns:p14="http://schemas.microsoft.com/office/powerpoint/2010/main" val="2996935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18</a:t>
            </a:fld>
            <a:endParaRPr lang="en-US"/>
          </a:p>
        </p:txBody>
      </p:sp>
    </p:spTree>
    <p:extLst>
      <p:ext uri="{BB962C8B-B14F-4D97-AF65-F5344CB8AC3E}">
        <p14:creationId xmlns:p14="http://schemas.microsoft.com/office/powerpoint/2010/main" val="4226027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19</a:t>
            </a:fld>
            <a:endParaRPr lang="en-US"/>
          </a:p>
        </p:txBody>
      </p:sp>
    </p:spTree>
    <p:extLst>
      <p:ext uri="{BB962C8B-B14F-4D97-AF65-F5344CB8AC3E}">
        <p14:creationId xmlns:p14="http://schemas.microsoft.com/office/powerpoint/2010/main" val="3928912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20</a:t>
            </a:fld>
            <a:endParaRPr lang="en-US"/>
          </a:p>
        </p:txBody>
      </p:sp>
    </p:spTree>
    <p:extLst>
      <p:ext uri="{BB962C8B-B14F-4D97-AF65-F5344CB8AC3E}">
        <p14:creationId xmlns:p14="http://schemas.microsoft.com/office/powerpoint/2010/main" val="2116637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i="0" dirty="0">
                <a:solidFill>
                  <a:srgbClr val="404040"/>
                </a:solidFill>
                <a:effectLst/>
                <a:latin typeface="Lato" panose="020F0502020204030204" pitchFamily="34" charset="0"/>
              </a:rPr>
              <a:t>Once you activate an environment, </a:t>
            </a:r>
            <a:r>
              <a:rPr lang="en-US" dirty="0" err="1">
                <a:effectLst/>
              </a:rPr>
              <a:t>spack</a:t>
            </a:r>
            <a:r>
              <a:rPr lang="en-US" dirty="0"/>
              <a:t> </a:t>
            </a:r>
            <a:r>
              <a:rPr lang="en-US" dirty="0">
                <a:effectLst/>
              </a:rPr>
              <a:t>find</a:t>
            </a:r>
            <a:r>
              <a:rPr lang="en-US" b="0" i="0" dirty="0">
                <a:solidFill>
                  <a:srgbClr val="404040"/>
                </a:solidFill>
                <a:effectLst/>
                <a:latin typeface="Lato" panose="020F0502020204030203" pitchFamily="34" charset="0"/>
              </a:rPr>
              <a:t> only shows what is in the current environment. </a:t>
            </a:r>
            <a:endParaRPr lang="en-US" dirty="0"/>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21</a:t>
            </a:fld>
            <a:endParaRPr lang="en-US"/>
          </a:p>
        </p:txBody>
      </p:sp>
    </p:spTree>
    <p:extLst>
      <p:ext uri="{BB962C8B-B14F-4D97-AF65-F5344CB8AC3E}">
        <p14:creationId xmlns:p14="http://schemas.microsoft.com/office/powerpoint/2010/main" val="2831035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22</a:t>
            </a:fld>
            <a:endParaRPr lang="en-US"/>
          </a:p>
        </p:txBody>
      </p:sp>
    </p:spTree>
    <p:extLst>
      <p:ext uri="{BB962C8B-B14F-4D97-AF65-F5344CB8AC3E}">
        <p14:creationId xmlns:p14="http://schemas.microsoft.com/office/powerpoint/2010/main" val="671770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23</a:t>
            </a:fld>
            <a:endParaRPr lang="en-US"/>
          </a:p>
        </p:txBody>
      </p:sp>
    </p:spTree>
    <p:extLst>
      <p:ext uri="{BB962C8B-B14F-4D97-AF65-F5344CB8AC3E}">
        <p14:creationId xmlns:p14="http://schemas.microsoft.com/office/powerpoint/2010/main" val="2711281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a:t>
            </a:r>
            <a:r>
              <a:rPr lang="en-US" dirty="0" err="1"/>
              <a:t>cloud.google.com</a:t>
            </a:r>
            <a:r>
              <a:rPr lang="en-US" dirty="0"/>
              <a:t>/learn/what-are-containers</a:t>
            </a:r>
          </a:p>
          <a:p>
            <a:endParaRPr lang="en-US" dirty="0"/>
          </a:p>
          <a:p>
            <a:pPr algn="l"/>
            <a:r>
              <a:rPr lang="en-US" b="0" i="0" dirty="0">
                <a:solidFill>
                  <a:srgbClr val="202124"/>
                </a:solidFill>
                <a:effectLst/>
                <a:latin typeface="Google Sans"/>
              </a:rPr>
              <a:t>Containers vs. VMs</a:t>
            </a:r>
          </a:p>
          <a:p>
            <a:pPr algn="l"/>
            <a:r>
              <a:rPr lang="en-US" b="0" i="0" dirty="0">
                <a:solidFill>
                  <a:srgbClr val="5F6368"/>
                </a:solidFill>
                <a:effectLst/>
                <a:latin typeface="Google Sans Text"/>
              </a:rPr>
              <a:t>You might already be familiar with VMs: a guest operating system such as Linux or Windows runs on top of a host operating system with access to the underlying hardware. Containers are often compared to virtual machines (VMs). Like virtual machines, containers allow you to package your application together with libraries and other dependencies, providing isolated environments for running your software services. As you’ll see below, however, the similarities end here as containers offer a far more lightweight unit for developers and IT Ops teams to work with, carrying a myriad of benefits.</a:t>
            </a:r>
          </a:p>
          <a:p>
            <a:pPr algn="l">
              <a:buFont typeface="Arial" panose="020B0604020202020204" pitchFamily="34" charset="0"/>
              <a:buChar char="•"/>
            </a:pPr>
            <a:r>
              <a:rPr lang="en-US" b="0" i="0" dirty="0">
                <a:solidFill>
                  <a:srgbClr val="5F6368"/>
                </a:solidFill>
                <a:effectLst/>
                <a:latin typeface="Google Sans Text"/>
              </a:rPr>
              <a:t>Containers are much more lightweight than VMs</a:t>
            </a:r>
          </a:p>
          <a:p>
            <a:pPr algn="l">
              <a:buFont typeface="Arial" panose="020B0604020202020204" pitchFamily="34" charset="0"/>
              <a:buChar char="•"/>
            </a:pPr>
            <a:r>
              <a:rPr lang="en-US" b="0" i="0" dirty="0">
                <a:solidFill>
                  <a:srgbClr val="5F6368"/>
                </a:solidFill>
                <a:effectLst/>
                <a:latin typeface="Google Sans Text"/>
              </a:rPr>
              <a:t>Containers virtualize at the OS level while VMs virtualize at the hardware level</a:t>
            </a:r>
          </a:p>
          <a:p>
            <a:pPr algn="l">
              <a:buFont typeface="Arial" panose="020B0604020202020204" pitchFamily="34" charset="0"/>
              <a:buChar char="•"/>
            </a:pPr>
            <a:r>
              <a:rPr lang="en-US" b="0" i="0" dirty="0">
                <a:solidFill>
                  <a:srgbClr val="5F6368"/>
                </a:solidFill>
                <a:effectLst/>
                <a:latin typeface="Google Sans Text"/>
              </a:rPr>
              <a:t>Containers share the OS kernel and use a fraction of the memory VMs require</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24</a:t>
            </a:fld>
            <a:endParaRPr lang="en-US"/>
          </a:p>
        </p:txBody>
      </p:sp>
    </p:spTree>
    <p:extLst>
      <p:ext uri="{BB962C8B-B14F-4D97-AF65-F5344CB8AC3E}">
        <p14:creationId xmlns:p14="http://schemas.microsoft.com/office/powerpoint/2010/main" val="68248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SIF = singularity image file </a:t>
            </a:r>
          </a:p>
        </p:txBody>
      </p:sp>
      <p:sp>
        <p:nvSpPr>
          <p:cNvPr id="4" name="Slide Number Placeholder 3"/>
          <p:cNvSpPr>
            <a:spLocks noGrp="1"/>
          </p:cNvSpPr>
          <p:nvPr>
            <p:ph type="sldNum" sz="quarter" idx="5"/>
          </p:nvPr>
        </p:nvSpPr>
        <p:spPr/>
        <p:txBody>
          <a:bodyPr/>
          <a:lstStyle/>
          <a:p>
            <a:fld id="{A926901F-C6C3-9E47-9843-744856EDDD7A}" type="slidenum">
              <a:rPr lang="en-US" smtClean="0"/>
              <a:t>26</a:t>
            </a:fld>
            <a:endParaRPr lang="en-US"/>
          </a:p>
        </p:txBody>
      </p:sp>
    </p:spTree>
    <p:extLst>
      <p:ext uri="{BB962C8B-B14F-4D97-AF65-F5344CB8AC3E}">
        <p14:creationId xmlns:p14="http://schemas.microsoft.com/office/powerpoint/2010/main" val="3585651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2316551eda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9" name="Google Shape;129;g12316551eda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workshop is meant to be empowering and information-rich – to help you get the most out of your HPC workflow.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Feel free to ask questions during the presentations and to discuss ideas/thoughts during breaks and the hands-on portion of the workshop.</a:t>
            </a:r>
            <a:endParaRPr dirty="0"/>
          </a:p>
        </p:txBody>
      </p:sp>
      <p:sp>
        <p:nvSpPr>
          <p:cNvPr id="130" name="Google Shape;130;g12316551eda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2933-1853-3695-5698-EA2C873D55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39900-6690-4850-B14D-CFF0A6DDB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3EF43-FA77-3703-DB72-C6218B0476B5}"/>
              </a:ext>
            </a:extLst>
          </p:cNvPr>
          <p:cNvSpPr>
            <a:spLocks noGrp="1"/>
          </p:cNvSpPr>
          <p:nvPr>
            <p:ph type="dt" sz="half" idx="10"/>
          </p:nvPr>
        </p:nvSpPr>
        <p:spPr>
          <a:xfrm>
            <a:off x="4724400" y="6356350"/>
            <a:ext cx="2743200" cy="365125"/>
          </a:xfrm>
          <a:prstGeom prst="rect">
            <a:avLst/>
          </a:prstGeom>
        </p:spPr>
        <p:txBody>
          <a:bodyPr/>
          <a:lstStyle/>
          <a:p>
            <a:pPr algn="ctr"/>
            <a:r>
              <a:rPr lang="en-US"/>
              <a:t>1/9/2025</a:t>
            </a:r>
            <a:endParaRPr lang="en-US" dirty="0"/>
          </a:p>
        </p:txBody>
      </p:sp>
      <p:sp>
        <p:nvSpPr>
          <p:cNvPr id="6" name="Slide Number Placeholder 5">
            <a:extLst>
              <a:ext uri="{FF2B5EF4-FFF2-40B4-BE49-F238E27FC236}">
                <a16:creationId xmlns:a16="http://schemas.microsoft.com/office/drawing/2014/main" id="{7F62B1B4-AC37-41B2-EB63-E0D769F470EA}"/>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2219838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1D7D-D016-C86F-111E-51245E7BA7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0B542-AE2F-4E58-DD66-7DA9CB444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321B0-98E4-9776-8ABB-72C7B07ABE94}"/>
              </a:ext>
            </a:extLst>
          </p:cNvPr>
          <p:cNvSpPr>
            <a:spLocks noGrp="1"/>
          </p:cNvSpPr>
          <p:nvPr>
            <p:ph type="dt" sz="half" idx="10"/>
          </p:nvPr>
        </p:nvSpPr>
        <p:spPr>
          <a:xfrm>
            <a:off x="4724400" y="6370515"/>
            <a:ext cx="2743200" cy="365125"/>
          </a:xfrm>
          <a:prstGeom prst="rect">
            <a:avLst/>
          </a:prstGeom>
        </p:spPr>
        <p:txBody>
          <a:bodyPr/>
          <a:lstStyle/>
          <a:p>
            <a:pPr algn="ctr"/>
            <a:r>
              <a:rPr lang="en-US"/>
              <a:t>1/9/2025</a:t>
            </a:r>
            <a:endParaRPr lang="en-US" dirty="0"/>
          </a:p>
        </p:txBody>
      </p:sp>
      <p:sp>
        <p:nvSpPr>
          <p:cNvPr id="6" name="Slide Number Placeholder 5">
            <a:extLst>
              <a:ext uri="{FF2B5EF4-FFF2-40B4-BE49-F238E27FC236}">
                <a16:creationId xmlns:a16="http://schemas.microsoft.com/office/drawing/2014/main" id="{F3E58BD9-1414-8B11-5258-F11F3BBA1358}"/>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166564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FF543F-785B-81AD-859C-25E1E14F9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A11285-AC5A-F005-FEA3-CACE5986B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19AEED0-1DC9-A7B8-1AA0-116CA0EB6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A560F-461C-6043-9BC4-489BA92F7161}" type="slidenum">
              <a:rPr lang="en-US" smtClean="0"/>
              <a:t>‹#›</a:t>
            </a:fld>
            <a:endParaRPr lang="en-US"/>
          </a:p>
        </p:txBody>
      </p:sp>
      <p:pic>
        <p:nvPicPr>
          <p:cNvPr id="8" name="Picture 7" descr="Shape&#10;&#10;Description automatically generated with medium confidence">
            <a:extLst>
              <a:ext uri="{FF2B5EF4-FFF2-40B4-BE49-F238E27FC236}">
                <a16:creationId xmlns:a16="http://schemas.microsoft.com/office/drawing/2014/main" id="{16A367C9-3AA6-1192-2565-6CDE4E3F4F0A}"/>
              </a:ext>
            </a:extLst>
          </p:cNvPr>
          <p:cNvPicPr>
            <a:picLocks noChangeAspect="1"/>
          </p:cNvPicPr>
          <p:nvPr userDrawn="1"/>
        </p:nvPicPr>
        <p:blipFill>
          <a:blip r:embed="rId4"/>
          <a:stretch>
            <a:fillRect/>
          </a:stretch>
        </p:blipFill>
        <p:spPr>
          <a:xfrm>
            <a:off x="0" y="6246811"/>
            <a:ext cx="4724400" cy="584200"/>
          </a:xfrm>
          <a:prstGeom prst="rect">
            <a:avLst/>
          </a:prstGeom>
        </p:spPr>
      </p:pic>
      <p:sp>
        <p:nvSpPr>
          <p:cNvPr id="9" name="Date Placeholder 8">
            <a:extLst>
              <a:ext uri="{FF2B5EF4-FFF2-40B4-BE49-F238E27FC236}">
                <a16:creationId xmlns:a16="http://schemas.microsoft.com/office/drawing/2014/main" id="{6CA2128F-B59B-98EB-B50C-F663F9DCCD82}"/>
              </a:ext>
            </a:extLst>
          </p:cNvPr>
          <p:cNvSpPr>
            <a:spLocks noGrp="1"/>
          </p:cNvSpPr>
          <p:nvPr>
            <p:ph type="dt" sz="half" idx="2"/>
          </p:nvPr>
        </p:nvSpPr>
        <p:spPr>
          <a:xfrm>
            <a:off x="4724400" y="635634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ctr"/>
            <a:r>
              <a:rPr lang="en-US"/>
              <a:t>1/9/2025</a:t>
            </a:r>
            <a:endParaRPr lang="en-US" dirty="0"/>
          </a:p>
        </p:txBody>
      </p:sp>
    </p:spTree>
    <p:extLst>
      <p:ext uri="{BB962C8B-B14F-4D97-AF65-F5344CB8AC3E}">
        <p14:creationId xmlns:p14="http://schemas.microsoft.com/office/powerpoint/2010/main" val="2504841742"/>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hyperlink" Target="https://curc.readthedocs.io/en/latest/software/python.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olorado.service-now.com/req_portal?id=ucb_sc_rc_form" TargetMode="External"/><Relationship Id="rId2" Type="http://schemas.openxmlformats.org/officeDocument/2006/relationships/hyperlink" Target="https://curc.readthedocs.io/en/latest/software/curc_provided_software.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urc.readthedocs.io/en/latest/software/spack.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urc.readthedocs.io/en/latest/software/containerization.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p:cNvPicPr preferRelativeResize="0"/>
          <p:nvPr/>
        </p:nvPicPr>
        <p:blipFill rotWithShape="1">
          <a:blip r:embed="rId3">
            <a:alphaModFix/>
          </a:blip>
          <a:srcRect b="32560"/>
          <a:stretch/>
        </p:blipFill>
        <p:spPr>
          <a:xfrm>
            <a:off x="0" y="0"/>
            <a:ext cx="12208413" cy="4500750"/>
          </a:xfrm>
          <a:prstGeom prst="rect">
            <a:avLst/>
          </a:prstGeom>
          <a:noFill/>
          <a:ln>
            <a:noFill/>
          </a:ln>
        </p:spPr>
      </p:pic>
      <p:sp>
        <p:nvSpPr>
          <p:cNvPr id="96" name="Google Shape;96;p14"/>
          <p:cNvSpPr txBox="1">
            <a:spLocks noGrp="1"/>
          </p:cNvSpPr>
          <p:nvPr>
            <p:ph type="ctrTitle"/>
          </p:nvPr>
        </p:nvSpPr>
        <p:spPr>
          <a:xfrm>
            <a:off x="459800" y="4960075"/>
            <a:ext cx="11289900" cy="1181700"/>
          </a:xfrm>
          <a:prstGeom prst="rect">
            <a:avLst/>
          </a:prstGeom>
          <a:noFill/>
          <a:ln>
            <a:noFill/>
          </a:ln>
        </p:spPr>
        <p:txBody>
          <a:bodyPr spcFirstLastPara="1" wrap="square" lIns="91425" tIns="45700" rIns="91425" bIns="45700" anchor="b" anchorCtr="0">
            <a:normAutofit fontScale="90000"/>
          </a:bodyPr>
          <a:lstStyle/>
          <a:p>
            <a:pPr lvl="0" algn="l">
              <a:spcBef>
                <a:spcPts val="0"/>
              </a:spcBef>
              <a:buClr>
                <a:schemeClr val="dk1"/>
              </a:buClr>
              <a:buSzPts val="6000"/>
            </a:pPr>
            <a:r>
              <a:rPr lang="en-US" sz="5300" dirty="0"/>
              <a:t>Module 4: </a:t>
            </a:r>
            <a:r>
              <a:rPr lang="en-US" sz="5400" dirty="0"/>
              <a:t>Finding, Downloading, and Applying Software on CURC Resources</a:t>
            </a:r>
            <a:endParaRPr sz="5300" dirty="0"/>
          </a:p>
        </p:txBody>
      </p:sp>
      <p:sp>
        <p:nvSpPr>
          <p:cNvPr id="97" name="Google Shape;97;p14"/>
          <p:cNvSpPr txBox="1">
            <a:spLocks noGrp="1"/>
          </p:cNvSpPr>
          <p:nvPr>
            <p:ph type="sldNum" idx="12"/>
          </p:nvPr>
        </p:nvSpPr>
        <p:spPr>
          <a:xfrm>
            <a:off x="5754600" y="6356350"/>
            <a:ext cx="6828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pPr marL="0" lvl="0" indent="0" algn="ctr" rtl="0">
                <a:spcBef>
                  <a:spcPts val="0"/>
                </a:spcBef>
                <a:spcAft>
                  <a:spcPts val="0"/>
                </a:spcAft>
                <a:buClr>
                  <a:srgbClr val="000000"/>
                </a:buClr>
                <a:buSzPts val="1200"/>
                <a:buFont typeface="Arial"/>
                <a:buNone/>
              </a:pPr>
              <a:t>1</a:t>
            </a:fld>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A5C00-123E-2CD0-AD48-005F02DD9C54}"/>
              </a:ext>
            </a:extLst>
          </p:cNvPr>
          <p:cNvSpPr>
            <a:spLocks noGrp="1"/>
          </p:cNvSpPr>
          <p:nvPr>
            <p:ph type="title"/>
          </p:nvPr>
        </p:nvSpPr>
        <p:spPr/>
        <p:txBody>
          <a:bodyPr/>
          <a:lstStyle/>
          <a:p>
            <a:r>
              <a:rPr lang="en-US" b="1" dirty="0"/>
              <a:t>Session Overview </a:t>
            </a:r>
          </a:p>
        </p:txBody>
      </p:sp>
      <p:sp>
        <p:nvSpPr>
          <p:cNvPr id="3" name="Content Placeholder 2">
            <a:extLst>
              <a:ext uri="{FF2B5EF4-FFF2-40B4-BE49-F238E27FC236}">
                <a16:creationId xmlns:a16="http://schemas.microsoft.com/office/drawing/2014/main" id="{5433201F-B470-4FB6-3E2A-B4F0D1B28558}"/>
              </a:ext>
            </a:extLst>
          </p:cNvPr>
          <p:cNvSpPr>
            <a:spLocks noGrp="1"/>
          </p:cNvSpPr>
          <p:nvPr>
            <p:ph idx="1"/>
          </p:nvPr>
        </p:nvSpPr>
        <p:spPr>
          <a:xfrm>
            <a:off x="838200" y="1690688"/>
            <a:ext cx="10914888" cy="4351338"/>
          </a:xfrm>
        </p:spPr>
        <p:txBody>
          <a:bodyPr vert="horz" lIns="91440" tIns="45720" rIns="91440" bIns="45720" rtlCol="0" anchor="t">
            <a:normAutofit/>
          </a:bodyPr>
          <a:lstStyle/>
          <a:p>
            <a:r>
              <a:rPr lang="en-US" dirty="0">
                <a:latin typeface="Helvetica"/>
                <a:cs typeface="Helvetica"/>
              </a:rPr>
              <a:t>The Module System (</a:t>
            </a:r>
            <a:r>
              <a:rPr lang="en-US" dirty="0" err="1">
                <a:latin typeface="Helvetica"/>
                <a:cs typeface="Helvetica"/>
              </a:rPr>
              <a:t>Lmod</a:t>
            </a:r>
            <a:r>
              <a:rPr lang="en-US" dirty="0">
                <a:latin typeface="Helvetica"/>
                <a:cs typeface="Helvetica"/>
              </a:rPr>
              <a:t>)</a:t>
            </a:r>
          </a:p>
          <a:p>
            <a:r>
              <a:rPr lang="en-US" dirty="0">
                <a:latin typeface="Helvetica"/>
                <a:cs typeface="Helvetica"/>
              </a:rPr>
              <a:t>Virtual Environments with Mamba and Conda</a:t>
            </a:r>
          </a:p>
          <a:p>
            <a:r>
              <a:rPr lang="en-US" dirty="0">
                <a:latin typeface="Helvetica"/>
                <a:cs typeface="Helvetica"/>
              </a:rPr>
              <a:t>Requesting Software Installations</a:t>
            </a:r>
          </a:p>
          <a:p>
            <a:r>
              <a:rPr lang="en-US" dirty="0">
                <a:latin typeface="Helvetica"/>
                <a:cs typeface="Helvetica"/>
              </a:rPr>
              <a:t>Advanced topics (if time permits)</a:t>
            </a:r>
          </a:p>
          <a:p>
            <a:pPr lvl="1"/>
            <a:r>
              <a:rPr lang="en-US" dirty="0">
                <a:latin typeface="Helvetica"/>
                <a:cs typeface="Helvetica"/>
              </a:rPr>
              <a:t>Simplifying Source Installations with Spack</a:t>
            </a:r>
          </a:p>
          <a:p>
            <a:pPr lvl="1"/>
            <a:r>
              <a:rPr lang="en-US" dirty="0">
                <a:latin typeface="Helvetica"/>
                <a:cs typeface="Helvetica"/>
              </a:rPr>
              <a:t>Containerization with </a:t>
            </a:r>
            <a:r>
              <a:rPr lang="en-US" dirty="0" err="1">
                <a:latin typeface="Helvetica"/>
                <a:cs typeface="Helvetica"/>
              </a:rPr>
              <a:t>Apptainer</a:t>
            </a:r>
            <a:endParaRPr lang="en-US" dirty="0">
              <a:latin typeface="Helvetica"/>
              <a:cs typeface="Helvetica"/>
            </a:endParaRPr>
          </a:p>
        </p:txBody>
      </p:sp>
      <p:sp>
        <p:nvSpPr>
          <p:cNvPr id="5" name="Slide Number Placeholder 4">
            <a:extLst>
              <a:ext uri="{FF2B5EF4-FFF2-40B4-BE49-F238E27FC236}">
                <a16:creationId xmlns:a16="http://schemas.microsoft.com/office/drawing/2014/main" id="{4822E284-841A-FBB5-50F0-46DE41975A46}"/>
              </a:ext>
            </a:extLst>
          </p:cNvPr>
          <p:cNvSpPr>
            <a:spLocks noGrp="1"/>
          </p:cNvSpPr>
          <p:nvPr>
            <p:ph type="sldNum" sz="quarter" idx="12"/>
          </p:nvPr>
        </p:nvSpPr>
        <p:spPr/>
        <p:txBody>
          <a:bodyPr/>
          <a:lstStyle/>
          <a:p>
            <a:fld id="{ABDA560F-461C-6043-9BC4-489BA92F7161}" type="slidenum">
              <a:rPr lang="en-US" smtClean="0"/>
              <a:t>2</a:t>
            </a:fld>
            <a:endParaRPr lang="en-US"/>
          </a:p>
        </p:txBody>
      </p:sp>
    </p:spTree>
    <p:extLst>
      <p:ext uri="{BB962C8B-B14F-4D97-AF65-F5344CB8AC3E}">
        <p14:creationId xmlns:p14="http://schemas.microsoft.com/office/powerpoint/2010/main" val="229635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lnSpcReduction="10000"/>
          </a:bodyPr>
          <a:lstStyle/>
          <a:p>
            <a:pPr marL="0" indent="0">
              <a:buNone/>
            </a:pPr>
            <a:r>
              <a:rPr lang="en-US" dirty="0">
                <a:latin typeface="Helvetica"/>
                <a:cs typeface="Helvetica"/>
              </a:rPr>
              <a:t>Typically, HPC systems have preinstalled software available to all users. Some of the advantages of using this software are: </a:t>
            </a:r>
          </a:p>
          <a:p>
            <a:r>
              <a:rPr lang="en-US" dirty="0">
                <a:latin typeface="Helvetica"/>
                <a:cs typeface="Helvetica"/>
              </a:rPr>
              <a:t>Quick access to commonly used software</a:t>
            </a:r>
          </a:p>
          <a:p>
            <a:r>
              <a:rPr lang="en-US" dirty="0">
                <a:latin typeface="Helvetica"/>
                <a:cs typeface="Helvetica"/>
              </a:rPr>
              <a:t>Eliminates the need to self-install complex software</a:t>
            </a:r>
          </a:p>
          <a:p>
            <a:r>
              <a:rPr lang="en-US" dirty="0">
                <a:latin typeface="Helvetica"/>
                <a:cs typeface="Helvetica"/>
              </a:rPr>
              <a:t>Access to Software that is compatible with the system and often optimized for the hardware it runs on </a:t>
            </a:r>
          </a:p>
          <a:p>
            <a:pPr marL="0" indent="0">
              <a:buNone/>
            </a:pPr>
            <a:endParaRPr lang="en-US" dirty="0">
              <a:latin typeface="Helvetica"/>
              <a:cs typeface="Helvetica"/>
            </a:endParaRPr>
          </a:p>
          <a:p>
            <a:pPr marL="0" indent="0">
              <a:buNone/>
            </a:pPr>
            <a:r>
              <a:rPr lang="en-US" dirty="0">
                <a:latin typeface="Helvetica"/>
                <a:cs typeface="Helvetica"/>
              </a:rPr>
              <a:t>A module on an HPC system provides easy access to this pre-installed software. We utilize </a:t>
            </a:r>
            <a:r>
              <a:rPr lang="en-US" b="1" dirty="0" err="1">
                <a:latin typeface="Helvetica"/>
                <a:cs typeface="Helvetica"/>
              </a:rPr>
              <a:t>Lmod</a:t>
            </a:r>
            <a:r>
              <a:rPr lang="en-US" dirty="0">
                <a:latin typeface="Helvetica"/>
                <a:cs typeface="Helvetica"/>
              </a:rPr>
              <a:t> to manage these modules and make them available to our users.</a:t>
            </a:r>
          </a:p>
        </p:txBody>
      </p:sp>
      <p:sp>
        <p:nvSpPr>
          <p:cNvPr id="5" name="Slide Number Placeholder 4">
            <a:extLst>
              <a:ext uri="{FF2B5EF4-FFF2-40B4-BE49-F238E27FC236}">
                <a16:creationId xmlns:a16="http://schemas.microsoft.com/office/drawing/2014/main" id="{138331BD-7E88-A731-2F56-CBB6FA7F6987}"/>
              </a:ext>
            </a:extLst>
          </p:cNvPr>
          <p:cNvSpPr>
            <a:spLocks noGrp="1"/>
          </p:cNvSpPr>
          <p:nvPr>
            <p:ph type="sldNum" sz="quarter" idx="12"/>
          </p:nvPr>
        </p:nvSpPr>
        <p:spPr/>
        <p:txBody>
          <a:bodyPr/>
          <a:lstStyle/>
          <a:p>
            <a:fld id="{ABDA560F-461C-6043-9BC4-489BA92F7161}" type="slidenum">
              <a:rPr lang="en-US" smtClean="0"/>
              <a:t>3</a:t>
            </a:fld>
            <a:endParaRPr lang="en-US"/>
          </a:p>
        </p:txBody>
      </p:sp>
    </p:spTree>
    <p:extLst>
      <p:ext uri="{BB962C8B-B14F-4D97-AF65-F5344CB8AC3E}">
        <p14:creationId xmlns:p14="http://schemas.microsoft.com/office/powerpoint/2010/main" val="365817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8248650" y="187216"/>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711355" y="1589888"/>
            <a:ext cx="11004395" cy="4351338"/>
          </a:xfrm>
        </p:spPr>
        <p:txBody>
          <a:bodyPr>
            <a:normAutofit/>
          </a:bodyPr>
          <a:lstStyle/>
          <a:p>
            <a:pPr marL="0" indent="0">
              <a:buFont typeface="Arial" panose="020B0604020202020204" pitchFamily="34" charset="0"/>
              <a:buNone/>
            </a:pPr>
            <a:r>
              <a:rPr lang="en-US" sz="3200" dirty="0">
                <a:latin typeface="Helvetica"/>
                <a:cs typeface="Helvetica"/>
              </a:rPr>
              <a:t>After logging into the HPC system, execute the following lines. These lines show you what modules are available on Login nodes and the Alpine compute nodes</a:t>
            </a:r>
          </a:p>
          <a:p>
            <a:pPr marL="0" indent="0">
              <a:buFont typeface="Arial" panose="020B0604020202020204" pitchFamily="34" charset="0"/>
              <a:buNone/>
            </a:pPr>
            <a:endParaRPr lang="en-US" sz="3200" dirty="0">
              <a:latin typeface="Helvetica"/>
              <a:cs typeface="Helvetica"/>
            </a:endParaRPr>
          </a:p>
          <a:p>
            <a:pPr marL="0" indent="0">
              <a:buFont typeface="Arial" panose="020B0604020202020204" pitchFamily="34" charset="0"/>
              <a:buNone/>
            </a:pPr>
            <a:endParaRPr lang="en-US" sz="3200" dirty="0">
              <a:latin typeface="Helvetica"/>
              <a:cs typeface="Helvetica"/>
            </a:endParaRPr>
          </a:p>
          <a:p>
            <a:pPr marL="0" indent="0">
              <a:buFont typeface="Arial" panose="020B0604020202020204" pitchFamily="34" charset="0"/>
              <a:buNone/>
            </a:pPr>
            <a:endParaRPr lang="en-US" sz="3200" dirty="0">
              <a:latin typeface="Helvetica"/>
              <a:cs typeface="Helvetica"/>
            </a:endParaRPr>
          </a:p>
          <a:p>
            <a:pPr marL="0" indent="0">
              <a:buNone/>
            </a:pPr>
            <a:endParaRPr lang="en-US" sz="1200" dirty="0">
              <a:latin typeface="Helvetica"/>
              <a:cs typeface="Helvetica"/>
            </a:endParaRPr>
          </a:p>
          <a:p>
            <a:pPr marL="0" indent="0">
              <a:buFont typeface="Arial" panose="020B0604020202020204" pitchFamily="34" charset="0"/>
              <a:buNone/>
            </a:pPr>
            <a:r>
              <a:rPr lang="en-US" sz="3000" dirty="0">
                <a:latin typeface="Helvetica"/>
                <a:cs typeface="Helvetica"/>
              </a:rPr>
              <a:t>As we can see, Login nodes </a:t>
            </a:r>
            <a:r>
              <a:rPr lang="en-US" sz="3000" b="1" u="sng" dirty="0">
                <a:latin typeface="Helvetica"/>
                <a:cs typeface="Helvetica"/>
              </a:rPr>
              <a:t>do not</a:t>
            </a:r>
            <a:r>
              <a:rPr lang="en-US" sz="3000" dirty="0">
                <a:latin typeface="Helvetica"/>
                <a:cs typeface="Helvetica"/>
              </a:rPr>
              <a:t> have the full software stack</a:t>
            </a:r>
          </a:p>
        </p:txBody>
      </p:sp>
      <p:grpSp>
        <p:nvGrpSpPr>
          <p:cNvPr id="10" name="Group 9">
            <a:extLst>
              <a:ext uri="{FF2B5EF4-FFF2-40B4-BE49-F238E27FC236}">
                <a16:creationId xmlns:a16="http://schemas.microsoft.com/office/drawing/2014/main" id="{29A6E0FD-93D1-E9AF-C2B2-0DA75F4A7290}"/>
              </a:ext>
            </a:extLst>
          </p:cNvPr>
          <p:cNvGrpSpPr/>
          <p:nvPr/>
        </p:nvGrpSpPr>
        <p:grpSpPr>
          <a:xfrm>
            <a:off x="1237487" y="3237288"/>
            <a:ext cx="9717025" cy="1606928"/>
            <a:chOff x="1863084" y="4469527"/>
            <a:chExt cx="9717025" cy="1606928"/>
          </a:xfrm>
        </p:grpSpPr>
        <p:sp>
          <p:nvSpPr>
            <p:cNvPr id="11" name="Rectangle 10">
              <a:extLst>
                <a:ext uri="{FF2B5EF4-FFF2-40B4-BE49-F238E27FC236}">
                  <a16:creationId xmlns:a16="http://schemas.microsoft.com/office/drawing/2014/main" id="{92212D19-D875-34CD-5BD1-307B395D21D3}"/>
                </a:ext>
              </a:extLst>
            </p:cNvPr>
            <p:cNvSpPr/>
            <p:nvPr/>
          </p:nvSpPr>
          <p:spPr>
            <a:xfrm>
              <a:off x="1863084" y="4469527"/>
              <a:ext cx="8173979" cy="141337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3958996-4134-EBA7-BA07-8DBE809071E1}"/>
                </a:ext>
              </a:extLst>
            </p:cNvPr>
            <p:cNvSpPr txBox="1"/>
            <p:nvPr/>
          </p:nvSpPr>
          <p:spPr>
            <a:xfrm>
              <a:off x="1997197" y="4599127"/>
              <a:ext cx="9582912" cy="1477328"/>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 module avail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acompile</a:t>
              </a:r>
              <a:r>
                <a:rPr lang="en-US" b="1" dirty="0">
                  <a:latin typeface="Courier New" panose="02070309020205020404" pitchFamily="49" charset="0"/>
                  <a:cs typeface="Courier New" panose="02070309020205020404" pitchFamily="49" charset="0"/>
                </a:rPr>
                <a:t> --help</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acompile</a:t>
              </a:r>
              <a:r>
                <a:rPr lang="en-US" b="1" dirty="0">
                  <a:latin typeface="Courier New" panose="02070309020205020404" pitchFamily="49" charset="0"/>
                  <a:cs typeface="Courier New" panose="02070309020205020404" pitchFamily="49" charset="0"/>
                </a:rPr>
                <a:t> --time=2:00:00 </a:t>
              </a:r>
            </a:p>
            <a:p>
              <a:r>
                <a:rPr lang="en-US" b="1" dirty="0">
                  <a:latin typeface="Courier New" panose="02070309020205020404" pitchFamily="49" charset="0"/>
                  <a:cs typeface="Courier New" panose="02070309020205020404" pitchFamily="49" charset="0"/>
                </a:rPr>
                <a:t>$ module avail </a:t>
              </a:r>
            </a:p>
            <a:p>
              <a:endParaRPr lang="en-US" dirty="0">
                <a:latin typeface="Monaco" pitchFamily="2" charset="77"/>
              </a:endParaRPr>
            </a:p>
          </p:txBody>
        </p:sp>
      </p:grpSp>
      <p:sp>
        <p:nvSpPr>
          <p:cNvPr id="5" name="Slide Number Placeholder 4">
            <a:extLst>
              <a:ext uri="{FF2B5EF4-FFF2-40B4-BE49-F238E27FC236}">
                <a16:creationId xmlns:a16="http://schemas.microsoft.com/office/drawing/2014/main" id="{F89AED76-820F-6CAA-8945-D99379985DE9}"/>
              </a:ext>
            </a:extLst>
          </p:cNvPr>
          <p:cNvSpPr>
            <a:spLocks noGrp="1"/>
          </p:cNvSpPr>
          <p:nvPr>
            <p:ph type="sldNum" sz="quarter" idx="12"/>
          </p:nvPr>
        </p:nvSpPr>
        <p:spPr/>
        <p:txBody>
          <a:bodyPr/>
          <a:lstStyle/>
          <a:p>
            <a:fld id="{ABDA560F-461C-6043-9BC4-489BA92F7161}" type="slidenum">
              <a:rPr lang="en-US" smtClean="0"/>
              <a:t>4</a:t>
            </a:fld>
            <a:endParaRPr lang="en-US"/>
          </a:p>
        </p:txBody>
      </p:sp>
    </p:spTree>
    <p:extLst>
      <p:ext uri="{BB962C8B-B14F-4D97-AF65-F5344CB8AC3E}">
        <p14:creationId xmlns:p14="http://schemas.microsoft.com/office/powerpoint/2010/main" val="15703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653393" y="1690688"/>
            <a:ext cx="10515600" cy="3879850"/>
          </a:xfrm>
        </p:spPr>
        <p:txBody>
          <a:bodyPr>
            <a:normAutofit/>
          </a:bodyPr>
          <a:lstStyle/>
          <a:p>
            <a:pPr marL="0" indent="0">
              <a:buNone/>
            </a:pPr>
            <a:r>
              <a:rPr lang="en-US" dirty="0">
                <a:latin typeface="Helvetica"/>
                <a:cs typeface="Helvetica"/>
              </a:rPr>
              <a:t>Live Demo: Loading and unloading software modules will set (and reset) important environment variables for you and will dynamically change the software environment on the cluster.</a:t>
            </a:r>
          </a:p>
          <a:p>
            <a:pPr marL="0" indent="0">
              <a:buNone/>
            </a:pPr>
            <a:endParaRPr lang="en-US" sz="3200" b="1" dirty="0">
              <a:solidFill>
                <a:srgbClr val="202122"/>
              </a:solidFill>
              <a:latin typeface="Century Gothic" panose="020B0502020202020204" pitchFamily="34" charset="0"/>
            </a:endParaRPr>
          </a:p>
          <a:p>
            <a:pPr marL="0" indent="0">
              <a:buNone/>
            </a:pPr>
            <a:endParaRPr lang="en-US" dirty="0">
              <a:latin typeface="Helvetica"/>
              <a:cs typeface="Helvetica"/>
            </a:endParaRPr>
          </a:p>
          <a:p>
            <a:pPr marL="0" indent="0">
              <a:buNone/>
            </a:pPr>
            <a:endParaRPr lang="en-US" sz="3200" b="1" dirty="0">
              <a:solidFill>
                <a:srgbClr val="202122"/>
              </a:solidFill>
              <a:latin typeface="Century Gothic" panose="020B0502020202020204" pitchFamily="34" charset="0"/>
            </a:endParaRPr>
          </a:p>
          <a:p>
            <a:pPr marL="0" indent="0">
              <a:buNone/>
            </a:pPr>
            <a:endParaRPr lang="en-US" dirty="0">
              <a:solidFill>
                <a:srgbClr val="202122"/>
              </a:solidFill>
              <a:latin typeface="Century Gothic" panose="020B0502020202020204" pitchFamily="34" charset="0"/>
            </a:endParaRPr>
          </a:p>
          <a:p>
            <a:pPr marL="0" indent="0">
              <a:buNone/>
            </a:pPr>
            <a:endParaRPr lang="en-US" sz="3200" dirty="0">
              <a:latin typeface="Century Gothic" panose="020B0502020202020204" pitchFamily="34" charset="0"/>
            </a:endParaRPr>
          </a:p>
        </p:txBody>
      </p:sp>
      <p:grpSp>
        <p:nvGrpSpPr>
          <p:cNvPr id="6" name="Group 5">
            <a:extLst>
              <a:ext uri="{FF2B5EF4-FFF2-40B4-BE49-F238E27FC236}">
                <a16:creationId xmlns:a16="http://schemas.microsoft.com/office/drawing/2014/main" id="{29BC9ACC-85CF-40C5-093F-B565739DAF49}"/>
              </a:ext>
            </a:extLst>
          </p:cNvPr>
          <p:cNvGrpSpPr/>
          <p:nvPr/>
        </p:nvGrpSpPr>
        <p:grpSpPr>
          <a:xfrm>
            <a:off x="252984" y="3275639"/>
            <a:ext cx="5745480" cy="2049256"/>
            <a:chOff x="1863085" y="4469527"/>
            <a:chExt cx="13820837" cy="921766"/>
          </a:xfrm>
        </p:grpSpPr>
        <p:sp>
          <p:nvSpPr>
            <p:cNvPr id="7" name="Rectangle 6">
              <a:extLst>
                <a:ext uri="{FF2B5EF4-FFF2-40B4-BE49-F238E27FC236}">
                  <a16:creationId xmlns:a16="http://schemas.microsoft.com/office/drawing/2014/main" id="{405E92EA-D55E-6152-BAD1-5E0AAF2DFC85}"/>
                </a:ext>
              </a:extLst>
            </p:cNvPr>
            <p:cNvSpPr/>
            <p:nvPr/>
          </p:nvSpPr>
          <p:spPr>
            <a:xfrm>
              <a:off x="1863085" y="4469527"/>
              <a:ext cx="13820837" cy="92176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28BEBCD-EA41-F501-5F36-8AEA80BE829A}"/>
                </a:ext>
              </a:extLst>
            </p:cNvPr>
            <p:cNvSpPr txBox="1"/>
            <p:nvPr/>
          </p:nvSpPr>
          <p:spPr>
            <a:xfrm>
              <a:off x="2047453" y="4519124"/>
              <a:ext cx="13636469" cy="872169"/>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module purge</a:t>
              </a:r>
            </a:p>
            <a:p>
              <a:r>
                <a:rPr lang="en-US" sz="2400" b="1" dirty="0">
                  <a:latin typeface="Courier New" panose="02070309020205020404" pitchFamily="49" charset="0"/>
                  <a:cs typeface="Courier New" panose="02070309020205020404" pitchFamily="49" charset="0"/>
                </a:rPr>
                <a:t>$ module load intel</a:t>
              </a:r>
            </a:p>
            <a:p>
              <a:r>
                <a:rPr lang="en-US" sz="2400" b="1" dirty="0">
                  <a:latin typeface="Courier New" panose="02070309020205020404" pitchFamily="49" charset="0"/>
                  <a:cs typeface="Courier New" panose="02070309020205020404" pitchFamily="49" charset="0"/>
                </a:rPr>
                <a:t>$ module load hdf5</a:t>
              </a:r>
            </a:p>
            <a:p>
              <a:r>
                <a:rPr lang="en-US" sz="2400" b="1" dirty="0">
                  <a:latin typeface="Courier New" panose="02070309020205020404" pitchFamily="49" charset="0"/>
                  <a:cs typeface="Courier New" panose="02070309020205020404" pitchFamily="49" charset="0"/>
                </a:rPr>
                <a:t>$ module display hdf5</a:t>
              </a:r>
            </a:p>
            <a:p>
              <a:r>
                <a:rPr lang="en-US" sz="2400" b="1" dirty="0">
                  <a:latin typeface="Courier New" panose="02070309020205020404" pitchFamily="49" charset="0"/>
                  <a:cs typeface="Courier New" panose="02070309020205020404" pitchFamily="49" charset="0"/>
                </a:rPr>
                <a:t>$ env | grep HDF5</a:t>
              </a:r>
            </a:p>
          </p:txBody>
        </p:sp>
      </p:grpSp>
      <p:grpSp>
        <p:nvGrpSpPr>
          <p:cNvPr id="10" name="Group 9">
            <a:extLst>
              <a:ext uri="{FF2B5EF4-FFF2-40B4-BE49-F238E27FC236}">
                <a16:creationId xmlns:a16="http://schemas.microsoft.com/office/drawing/2014/main" id="{BC7E23C5-62D8-F568-C104-2CC8E6B2B555}"/>
              </a:ext>
            </a:extLst>
          </p:cNvPr>
          <p:cNvGrpSpPr/>
          <p:nvPr/>
        </p:nvGrpSpPr>
        <p:grpSpPr>
          <a:xfrm>
            <a:off x="6193538" y="3275639"/>
            <a:ext cx="5745480" cy="2049256"/>
            <a:chOff x="1863085" y="4469527"/>
            <a:chExt cx="13820837" cy="921766"/>
          </a:xfrm>
        </p:grpSpPr>
        <p:sp>
          <p:nvSpPr>
            <p:cNvPr id="11" name="Rectangle 10">
              <a:extLst>
                <a:ext uri="{FF2B5EF4-FFF2-40B4-BE49-F238E27FC236}">
                  <a16:creationId xmlns:a16="http://schemas.microsoft.com/office/drawing/2014/main" id="{592E6023-BBB2-1F6F-F2CB-D0CA25292A7A}"/>
                </a:ext>
              </a:extLst>
            </p:cNvPr>
            <p:cNvSpPr/>
            <p:nvPr/>
          </p:nvSpPr>
          <p:spPr>
            <a:xfrm>
              <a:off x="1863085" y="4469527"/>
              <a:ext cx="13820837" cy="92176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AD5DBF-60E5-8670-D192-07FDF9C48FC0}"/>
                </a:ext>
              </a:extLst>
            </p:cNvPr>
            <p:cNvSpPr txBox="1"/>
            <p:nvPr/>
          </p:nvSpPr>
          <p:spPr>
            <a:xfrm>
              <a:off x="2047453" y="4519124"/>
              <a:ext cx="13636469" cy="872169"/>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module purge</a:t>
              </a:r>
            </a:p>
            <a:p>
              <a:r>
                <a:rPr lang="en-US" sz="2400" b="1" dirty="0">
                  <a:latin typeface="Courier New" panose="02070309020205020404" pitchFamily="49" charset="0"/>
                  <a:cs typeface="Courier New" panose="02070309020205020404" pitchFamily="49" charset="0"/>
                </a:rPr>
                <a:t>$ module load </a:t>
              </a:r>
              <a:r>
                <a:rPr lang="en-US" sz="2400" b="1" dirty="0" err="1">
                  <a:latin typeface="Courier New" panose="02070309020205020404" pitchFamily="49" charset="0"/>
                  <a:cs typeface="Courier New" panose="02070309020205020404" pitchFamily="49" charset="0"/>
                </a:rPr>
                <a:t>gcc</a:t>
              </a:r>
              <a:endParaRPr lang="en-US" sz="2400" b="1"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 module load hdf5</a:t>
              </a:r>
            </a:p>
            <a:p>
              <a:r>
                <a:rPr lang="en-US" sz="2400" b="1" dirty="0">
                  <a:latin typeface="Courier New" panose="02070309020205020404" pitchFamily="49" charset="0"/>
                  <a:cs typeface="Courier New" panose="02070309020205020404" pitchFamily="49" charset="0"/>
                </a:rPr>
                <a:t>$ module display hdf5</a:t>
              </a:r>
            </a:p>
            <a:p>
              <a:r>
                <a:rPr lang="en-US" sz="2400" b="1" dirty="0">
                  <a:latin typeface="Courier New" panose="02070309020205020404" pitchFamily="49" charset="0"/>
                  <a:cs typeface="Courier New" panose="02070309020205020404" pitchFamily="49" charset="0"/>
                </a:rPr>
                <a:t>$ env | grep HDF5</a:t>
              </a:r>
            </a:p>
          </p:txBody>
        </p:sp>
      </p:grpSp>
      <p:sp>
        <p:nvSpPr>
          <p:cNvPr id="5" name="Slide Number Placeholder 4">
            <a:extLst>
              <a:ext uri="{FF2B5EF4-FFF2-40B4-BE49-F238E27FC236}">
                <a16:creationId xmlns:a16="http://schemas.microsoft.com/office/drawing/2014/main" id="{28E68972-383B-AE34-0255-3C6FBA73E088}"/>
              </a:ext>
            </a:extLst>
          </p:cNvPr>
          <p:cNvSpPr>
            <a:spLocks noGrp="1"/>
          </p:cNvSpPr>
          <p:nvPr>
            <p:ph type="sldNum" sz="quarter" idx="12"/>
          </p:nvPr>
        </p:nvSpPr>
        <p:spPr/>
        <p:txBody>
          <a:bodyPr/>
          <a:lstStyle/>
          <a:p>
            <a:fld id="{ABDA560F-461C-6043-9BC4-489BA92F7161}" type="slidenum">
              <a:rPr lang="en-US" smtClean="0"/>
              <a:t>5</a:t>
            </a:fld>
            <a:endParaRPr lang="en-US"/>
          </a:p>
        </p:txBody>
      </p:sp>
      <p:grpSp>
        <p:nvGrpSpPr>
          <p:cNvPr id="4" name="Group 3">
            <a:extLst>
              <a:ext uri="{FF2B5EF4-FFF2-40B4-BE49-F238E27FC236}">
                <a16:creationId xmlns:a16="http://schemas.microsoft.com/office/drawing/2014/main" id="{29BC9ACC-85CF-40C5-093F-B565739DAF49}"/>
              </a:ext>
            </a:extLst>
          </p:cNvPr>
          <p:cNvGrpSpPr/>
          <p:nvPr/>
        </p:nvGrpSpPr>
        <p:grpSpPr>
          <a:xfrm>
            <a:off x="6280808" y="3275628"/>
            <a:ext cx="5745480" cy="2117016"/>
            <a:chOff x="1863085" y="4469527"/>
            <a:chExt cx="13820837" cy="952245"/>
          </a:xfrm>
        </p:grpSpPr>
        <p:sp>
          <p:nvSpPr>
            <p:cNvPr id="13" name="Rectangle 12">
              <a:extLst>
                <a:ext uri="{FF2B5EF4-FFF2-40B4-BE49-F238E27FC236}">
                  <a16:creationId xmlns:a16="http://schemas.microsoft.com/office/drawing/2014/main" id="{405E92EA-D55E-6152-BAD1-5E0AAF2DFC85}"/>
                </a:ext>
              </a:extLst>
            </p:cNvPr>
            <p:cNvSpPr/>
            <p:nvPr/>
          </p:nvSpPr>
          <p:spPr>
            <a:xfrm>
              <a:off x="1863085" y="4469527"/>
              <a:ext cx="13820837" cy="952245"/>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28BEBCD-EA41-F501-5F36-8AEA80BE829A}"/>
                </a:ext>
              </a:extLst>
            </p:cNvPr>
            <p:cNvSpPr txBox="1"/>
            <p:nvPr/>
          </p:nvSpPr>
          <p:spPr>
            <a:xfrm>
              <a:off x="2047451" y="4519123"/>
              <a:ext cx="13636469" cy="872169"/>
            </a:xfrm>
            <a:prstGeom prst="rect">
              <a:avLst/>
            </a:prstGeom>
            <a:noFill/>
          </p:spPr>
          <p:txBody>
            <a:bodyPr wrap="square" rtlCol="0">
              <a:spAutoFit/>
            </a:bodyPr>
            <a:lstStyle/>
            <a:p>
              <a:r>
                <a:rPr lang="en-US" sz="2400" b="1" dirty="0">
                  <a:latin typeface="Courier New" panose="02070309020205020404" pitchFamily="49" charset="0"/>
                  <a:cs typeface="Courier New" panose="02070309020205020404" pitchFamily="49" charset="0"/>
                </a:rPr>
                <a:t>$ module purge</a:t>
              </a:r>
            </a:p>
            <a:p>
              <a:r>
                <a:rPr lang="en-US" sz="2400" b="1" dirty="0">
                  <a:latin typeface="Courier New" panose="02070309020205020404" pitchFamily="49" charset="0"/>
                  <a:cs typeface="Courier New" panose="02070309020205020404" pitchFamily="49" charset="0"/>
                </a:rPr>
                <a:t>$ module load intel/2024.2.1</a:t>
              </a:r>
            </a:p>
            <a:p>
              <a:r>
                <a:rPr lang="en-US" sz="2400" b="1" dirty="0">
                  <a:latin typeface="Courier New" panose="02070309020205020404" pitchFamily="49" charset="0"/>
                  <a:cs typeface="Courier New" panose="02070309020205020404" pitchFamily="49" charset="0"/>
                </a:rPr>
                <a:t>$ module avail</a:t>
              </a:r>
            </a:p>
            <a:p>
              <a:r>
                <a:rPr lang="en-US" sz="2400" b="1" dirty="0">
                  <a:latin typeface="Courier New" panose="02070309020205020404" pitchFamily="49" charset="0"/>
                  <a:cs typeface="Courier New" panose="02070309020205020404" pitchFamily="49" charset="0"/>
                </a:rPr>
                <a:t>$ module load hdf5/1.14.5</a:t>
              </a:r>
            </a:p>
            <a:p>
              <a:r>
                <a:rPr lang="en-US" sz="2400" b="1" dirty="0">
                  <a:latin typeface="Courier New" panose="02070309020205020404" pitchFamily="49" charset="0"/>
                  <a:cs typeface="Courier New" panose="02070309020205020404" pitchFamily="49" charset="0"/>
                </a:rPr>
                <a:t>$ module avail</a:t>
              </a:r>
            </a:p>
          </p:txBody>
        </p:sp>
      </p:grpSp>
    </p:spTree>
    <p:extLst>
      <p:ext uri="{BB962C8B-B14F-4D97-AF65-F5344CB8AC3E}">
        <p14:creationId xmlns:p14="http://schemas.microsoft.com/office/powerpoint/2010/main" val="414873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1546225"/>
            <a:ext cx="10515600" cy="4351338"/>
          </a:xfrm>
        </p:spPr>
        <p:txBody>
          <a:bodyPr>
            <a:normAutofit/>
          </a:bodyPr>
          <a:lstStyle/>
          <a:p>
            <a:pPr marL="0" indent="0">
              <a:buNone/>
            </a:pPr>
            <a:r>
              <a:rPr lang="en-US" dirty="0">
                <a:latin typeface="Helvetica"/>
                <a:cs typeface="Helvetica"/>
              </a:rPr>
              <a:t>Live Demo: Useful </a:t>
            </a:r>
            <a:r>
              <a:rPr lang="en-US" dirty="0" err="1">
                <a:latin typeface="Helvetica"/>
                <a:cs typeface="Helvetica"/>
              </a:rPr>
              <a:t>Lmod</a:t>
            </a:r>
            <a:r>
              <a:rPr lang="en-US" dirty="0">
                <a:latin typeface="Helvetica"/>
                <a:cs typeface="Helvetica"/>
              </a:rPr>
              <a:t> commands</a:t>
            </a:r>
          </a:p>
        </p:txBody>
      </p:sp>
      <p:grpSp>
        <p:nvGrpSpPr>
          <p:cNvPr id="6" name="Group 5">
            <a:extLst>
              <a:ext uri="{FF2B5EF4-FFF2-40B4-BE49-F238E27FC236}">
                <a16:creationId xmlns:a16="http://schemas.microsoft.com/office/drawing/2014/main" id="{DA7B3A39-72BA-3A4B-C0BE-0C2BC796D6E1}"/>
              </a:ext>
            </a:extLst>
          </p:cNvPr>
          <p:cNvGrpSpPr/>
          <p:nvPr/>
        </p:nvGrpSpPr>
        <p:grpSpPr>
          <a:xfrm>
            <a:off x="569877" y="2076384"/>
            <a:ext cx="11052246" cy="4245434"/>
            <a:chOff x="569877" y="3868113"/>
            <a:chExt cx="11052246" cy="1583355"/>
          </a:xfrm>
        </p:grpSpPr>
        <p:sp>
          <p:nvSpPr>
            <p:cNvPr id="7" name="Rectangle 6">
              <a:extLst>
                <a:ext uri="{FF2B5EF4-FFF2-40B4-BE49-F238E27FC236}">
                  <a16:creationId xmlns:a16="http://schemas.microsoft.com/office/drawing/2014/main" id="{21AEDACD-5D20-4921-301A-2BF552F14543}"/>
                </a:ext>
              </a:extLst>
            </p:cNvPr>
            <p:cNvSpPr/>
            <p:nvPr/>
          </p:nvSpPr>
          <p:spPr>
            <a:xfrm>
              <a:off x="569877" y="3911411"/>
              <a:ext cx="11052246" cy="149676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44D56538-8673-FD92-1F82-72A6749C8F0D}"/>
                </a:ext>
              </a:extLst>
            </p:cNvPr>
            <p:cNvSpPr txBox="1">
              <a:spLocks/>
            </p:cNvSpPr>
            <p:nvPr/>
          </p:nvSpPr>
          <p:spPr>
            <a:xfrm>
              <a:off x="719528" y="3868113"/>
              <a:ext cx="10634272" cy="158335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spider				# list all available modules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avail				# list modules available to you</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load &lt;package/version&gt;		# load a module into your env</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purge				# unload all modules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list 				# list currently loaded modules</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display &lt;package&gt; 		# display module info/help</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spider &lt;package&gt;			# view info for all versions</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spider &lt;package/version&gt; 	# view info for specific version</a:t>
              </a:r>
            </a:p>
            <a:p>
              <a:pPr marL="0" indent="0">
                <a:lnSpc>
                  <a:spcPct val="100000"/>
                </a:lnSpc>
                <a:buNone/>
              </a:pPr>
              <a:r>
                <a:rPr lang="en-US" sz="2000" dirty="0">
                  <a:latin typeface="Monaco"/>
                </a:rPr>
                <a:t>	</a:t>
              </a:r>
            </a:p>
          </p:txBody>
        </p:sp>
      </p:grpSp>
      <p:sp>
        <p:nvSpPr>
          <p:cNvPr id="5" name="Slide Number Placeholder 4">
            <a:extLst>
              <a:ext uri="{FF2B5EF4-FFF2-40B4-BE49-F238E27FC236}">
                <a16:creationId xmlns:a16="http://schemas.microsoft.com/office/drawing/2014/main" id="{989BD25A-492E-955F-3228-1618C71C2BBA}"/>
              </a:ext>
            </a:extLst>
          </p:cNvPr>
          <p:cNvSpPr>
            <a:spLocks noGrp="1"/>
          </p:cNvSpPr>
          <p:nvPr>
            <p:ph type="sldNum" sz="quarter" idx="12"/>
          </p:nvPr>
        </p:nvSpPr>
        <p:spPr/>
        <p:txBody>
          <a:bodyPr/>
          <a:lstStyle/>
          <a:p>
            <a:fld id="{ABDA560F-461C-6043-9BC4-489BA92F7161}" type="slidenum">
              <a:rPr lang="en-US" smtClean="0"/>
              <a:t>6</a:t>
            </a:fld>
            <a:endParaRPr lang="en-US"/>
          </a:p>
        </p:txBody>
      </p:sp>
    </p:spTree>
    <p:extLst>
      <p:ext uri="{BB962C8B-B14F-4D97-AF65-F5344CB8AC3E}">
        <p14:creationId xmlns:p14="http://schemas.microsoft.com/office/powerpoint/2010/main" val="136197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a:bodyPr>
          <a:lstStyle/>
          <a:p>
            <a:pPr marL="0" indent="0">
              <a:buFont typeface="Arial" panose="020B0604020202020204" pitchFamily="34" charset="0"/>
              <a:buNone/>
            </a:pPr>
            <a:r>
              <a:rPr lang="en-US" dirty="0">
                <a:latin typeface="Helvetica"/>
                <a:cs typeface="Helvetica"/>
              </a:rPr>
              <a:t>Points to note about CURC-managed modules:</a:t>
            </a:r>
          </a:p>
          <a:p>
            <a:r>
              <a:rPr lang="en-US" dirty="0">
                <a:latin typeface="Helvetica"/>
                <a:cs typeface="Helvetica"/>
              </a:rPr>
              <a:t>CURC does not update system modules; we do fresh installs of new versions and change the default when that is appropriate</a:t>
            </a:r>
          </a:p>
          <a:p>
            <a:r>
              <a:rPr lang="en-US" dirty="0">
                <a:latin typeface="Helvetica"/>
                <a:cs typeface="Helvetica"/>
              </a:rPr>
              <a:t>Sometimes when a module is outdated or incompatible with the system, we will remove it from the software stack</a:t>
            </a:r>
          </a:p>
          <a:p>
            <a:pPr marL="0" indent="0">
              <a:buNone/>
            </a:pPr>
            <a:endParaRPr lang="en-US" sz="1200" dirty="0">
              <a:latin typeface="Helvetica"/>
              <a:cs typeface="Helvetica"/>
            </a:endParaRPr>
          </a:p>
          <a:p>
            <a:pPr marL="0" indent="0">
              <a:buNone/>
            </a:pPr>
            <a:r>
              <a:rPr lang="en-US" b="1" dirty="0">
                <a:solidFill>
                  <a:srgbClr val="FF0000"/>
                </a:solidFill>
                <a:latin typeface="Helvetica Neue" panose="02000503000000020004"/>
              </a:rPr>
              <a:t>Take home: pay attention to what software modules you are loading, as this may be important for reproducibility!</a:t>
            </a:r>
            <a:endParaRPr lang="en-US" sz="2400" b="1" dirty="0">
              <a:solidFill>
                <a:srgbClr val="FF0000"/>
              </a:solidFill>
              <a:latin typeface="Helvetica Neue" panose="02000503000000020004"/>
            </a:endParaRPr>
          </a:p>
        </p:txBody>
      </p:sp>
      <p:sp>
        <p:nvSpPr>
          <p:cNvPr id="5" name="Slide Number Placeholder 4">
            <a:extLst>
              <a:ext uri="{FF2B5EF4-FFF2-40B4-BE49-F238E27FC236}">
                <a16:creationId xmlns:a16="http://schemas.microsoft.com/office/drawing/2014/main" id="{8010FA2F-87F2-1835-2ECF-FC69DA1CFFE3}"/>
              </a:ext>
            </a:extLst>
          </p:cNvPr>
          <p:cNvSpPr>
            <a:spLocks noGrp="1"/>
          </p:cNvSpPr>
          <p:nvPr>
            <p:ph type="sldNum" sz="quarter" idx="12"/>
          </p:nvPr>
        </p:nvSpPr>
        <p:spPr/>
        <p:txBody>
          <a:bodyPr/>
          <a:lstStyle/>
          <a:p>
            <a:fld id="{ABDA560F-461C-6043-9BC4-489BA92F7161}" type="slidenum">
              <a:rPr lang="en-US" smtClean="0"/>
              <a:t>7</a:t>
            </a:fld>
            <a:endParaRPr lang="en-US"/>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4"/>
          <a:stretch>
            <a:fillRect/>
          </a:stretch>
        </p:blipFill>
        <p:spPr>
          <a:xfrm>
            <a:off x="7886700" y="365125"/>
            <a:ext cx="3467100" cy="1181100"/>
          </a:xfrm>
          <a:prstGeom prst="rect">
            <a:avLst/>
          </a:prstGeom>
        </p:spPr>
      </p:pic>
    </p:spTree>
    <p:extLst>
      <p:ext uri="{BB962C8B-B14F-4D97-AF65-F5344CB8AC3E}">
        <p14:creationId xmlns:p14="http://schemas.microsoft.com/office/powerpoint/2010/main" val="131136850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407442" y="191250"/>
            <a:ext cx="6127150" cy="1348423"/>
          </a:xfrm>
        </p:spPr>
        <p:txBody>
          <a:bodyPr/>
          <a:lstStyle/>
          <a:p>
            <a:pPr algn="ctr"/>
            <a:r>
              <a:rPr lang="en-US" b="1" dirty="0"/>
              <a:t>Virtual Environments</a:t>
            </a:r>
            <a:endParaRPr lang="en-US" dirty="0">
              <a:solidFill>
                <a:schemeClr val="bg1"/>
              </a:solidFill>
            </a:endParaRPr>
          </a:p>
        </p:txBody>
      </p:sp>
      <p:sp>
        <p:nvSpPr>
          <p:cNvPr id="22" name="TextBox 21">
            <a:extLst>
              <a:ext uri="{FF2B5EF4-FFF2-40B4-BE49-F238E27FC236}">
                <a16:creationId xmlns:a16="http://schemas.microsoft.com/office/drawing/2014/main" id="{CDAE866F-9A4C-BC78-08C5-4310C2B3246B}"/>
              </a:ext>
            </a:extLst>
          </p:cNvPr>
          <p:cNvSpPr txBox="1"/>
          <p:nvPr/>
        </p:nvSpPr>
        <p:spPr>
          <a:xfrm>
            <a:off x="407442" y="1583710"/>
            <a:ext cx="5908061" cy="5262979"/>
          </a:xfrm>
          <a:prstGeom prst="rect">
            <a:avLst/>
          </a:prstGeom>
          <a:noFill/>
        </p:spPr>
        <p:txBody>
          <a:bodyPr wrap="square" rtlCol="0" anchor="ctr">
            <a:spAutoFit/>
          </a:bodyPr>
          <a:lstStyle/>
          <a:p>
            <a:r>
              <a:rPr lang="en-US" sz="2800" dirty="0">
                <a:latin typeface="Helvetica Neue" panose="02000503000000020004"/>
              </a:rPr>
              <a:t>Think of virtual environments as self-contained bubbles.</a:t>
            </a:r>
          </a:p>
          <a:p>
            <a:endParaRPr lang="en-US" sz="2800" dirty="0">
              <a:latin typeface="Helvetica Neue" panose="02000503000000020004"/>
            </a:endParaRPr>
          </a:p>
          <a:p>
            <a:r>
              <a:rPr lang="en-US" sz="2800" dirty="0">
                <a:latin typeface="Helvetica Neue" panose="02000503000000020004"/>
              </a:rPr>
              <a:t>env_1 contains all the dependencies of ‘Program A’.</a:t>
            </a:r>
          </a:p>
          <a:p>
            <a:endParaRPr lang="en-US" sz="2800" dirty="0">
              <a:latin typeface="Helvetica Neue" panose="02000503000000020004"/>
            </a:endParaRPr>
          </a:p>
          <a:p>
            <a:r>
              <a:rPr lang="en-US" sz="2800" dirty="0">
                <a:latin typeface="Helvetica Neue" panose="02000503000000020004"/>
              </a:rPr>
              <a:t>env_2 contains all the dependencies of ‘Program B’.</a:t>
            </a:r>
          </a:p>
          <a:p>
            <a:endParaRPr lang="en-US" sz="2800" dirty="0">
              <a:latin typeface="Helvetica Neue" panose="02000503000000020004"/>
            </a:endParaRPr>
          </a:p>
          <a:p>
            <a:r>
              <a:rPr lang="en-US" sz="2800" dirty="0">
                <a:latin typeface="Helvetica Neue" panose="02000503000000020004"/>
              </a:rPr>
              <a:t>The environments do not interact.</a:t>
            </a:r>
          </a:p>
          <a:p>
            <a:endParaRPr lang="en-US" sz="2800" b="1" dirty="0">
              <a:latin typeface="Helvetica Neue" panose="02000503000000020004"/>
            </a:endParaRPr>
          </a:p>
          <a:p>
            <a:endParaRPr lang="en-US" sz="2800" b="1" dirty="0">
              <a:latin typeface="Helvetica Neue" panose="02000503000000020004"/>
            </a:endParaRPr>
          </a:p>
        </p:txBody>
      </p:sp>
      <p:grpSp>
        <p:nvGrpSpPr>
          <p:cNvPr id="17" name="Group 16">
            <a:extLst>
              <a:ext uri="{FF2B5EF4-FFF2-40B4-BE49-F238E27FC236}">
                <a16:creationId xmlns:a16="http://schemas.microsoft.com/office/drawing/2014/main" id="{E9037026-162D-4EEC-424D-A60D0050B6A9}"/>
              </a:ext>
            </a:extLst>
          </p:cNvPr>
          <p:cNvGrpSpPr/>
          <p:nvPr/>
        </p:nvGrpSpPr>
        <p:grpSpPr>
          <a:xfrm>
            <a:off x="6650182" y="1765125"/>
            <a:ext cx="5733893" cy="4159623"/>
            <a:chOff x="6650182" y="1765125"/>
            <a:chExt cx="5733893" cy="4159623"/>
          </a:xfrm>
        </p:grpSpPr>
        <p:sp>
          <p:nvSpPr>
            <p:cNvPr id="9" name="Rectangle 8" descr="A graphic containing three separate bubbles, named env_1, env_2, and env_3, respectively. Each environment (bubble) has its own programs and dependencies depicted within, showing the sepearation of software between environments.">
              <a:extLst>
                <a:ext uri="{FF2B5EF4-FFF2-40B4-BE49-F238E27FC236}">
                  <a16:creationId xmlns:a16="http://schemas.microsoft.com/office/drawing/2014/main" id="{AED6EBB6-F155-BCFA-819A-B35196AF1D69}"/>
                </a:ext>
              </a:extLst>
            </p:cNvPr>
            <p:cNvSpPr/>
            <p:nvPr/>
          </p:nvSpPr>
          <p:spPr>
            <a:xfrm>
              <a:off x="6650182" y="1765125"/>
              <a:ext cx="5083104" cy="4159623"/>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B379485A-BC3C-9DCA-9CFE-FAE18FA9C09F}"/>
                </a:ext>
              </a:extLst>
            </p:cNvPr>
            <p:cNvGrpSpPr/>
            <p:nvPr/>
          </p:nvGrpSpPr>
          <p:grpSpPr>
            <a:xfrm>
              <a:off x="8034091" y="4232356"/>
              <a:ext cx="1454097" cy="1454097"/>
              <a:chOff x="8034091" y="4232356"/>
              <a:chExt cx="1454097" cy="1454097"/>
            </a:xfrm>
          </p:grpSpPr>
          <p:sp>
            <p:nvSpPr>
              <p:cNvPr id="12" name="Oval 11">
                <a:extLst>
                  <a:ext uri="{FF2B5EF4-FFF2-40B4-BE49-F238E27FC236}">
                    <a16:creationId xmlns:a16="http://schemas.microsoft.com/office/drawing/2014/main" id="{7E6E1065-BFAF-0E6F-3FFB-21918CD9024E}"/>
                  </a:ext>
                </a:extLst>
              </p:cNvPr>
              <p:cNvSpPr>
                <a:spLocks noChangeAspect="1"/>
              </p:cNvSpPr>
              <p:nvPr/>
            </p:nvSpPr>
            <p:spPr>
              <a:xfrm>
                <a:off x="8034091" y="4232356"/>
                <a:ext cx="1454097" cy="1454097"/>
              </a:xfrm>
              <a:prstGeom prst="ellipse">
                <a:avLst/>
              </a:prstGeom>
              <a:solidFill>
                <a:schemeClr val="accent2">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16" name="TextBox 15">
                <a:extLst>
                  <a:ext uri="{FF2B5EF4-FFF2-40B4-BE49-F238E27FC236}">
                    <a16:creationId xmlns:a16="http://schemas.microsoft.com/office/drawing/2014/main" id="{801CEDFB-732D-AE76-DC52-FBDDC099B561}"/>
                  </a:ext>
                </a:extLst>
              </p:cNvPr>
              <p:cNvSpPr txBox="1"/>
              <p:nvPr/>
            </p:nvSpPr>
            <p:spPr>
              <a:xfrm>
                <a:off x="8306595" y="4361369"/>
                <a:ext cx="1104405" cy="400110"/>
              </a:xfrm>
              <a:prstGeom prst="rect">
                <a:avLst/>
              </a:prstGeom>
              <a:noFill/>
            </p:spPr>
            <p:txBody>
              <a:bodyPr wrap="square" rtlCol="0">
                <a:spAutoFit/>
              </a:bodyPr>
              <a:lstStyle/>
              <a:p>
                <a:r>
                  <a:rPr lang="en-US" sz="2000" dirty="0">
                    <a:latin typeface="Monaco" pitchFamily="2" charset="77"/>
                  </a:rPr>
                  <a:t>env_3</a:t>
                </a:r>
              </a:p>
            </p:txBody>
          </p:sp>
        </p:grpSp>
        <p:grpSp>
          <p:nvGrpSpPr>
            <p:cNvPr id="8" name="Group 7">
              <a:extLst>
                <a:ext uri="{FF2B5EF4-FFF2-40B4-BE49-F238E27FC236}">
                  <a16:creationId xmlns:a16="http://schemas.microsoft.com/office/drawing/2014/main" id="{3FEF5324-0734-D455-DDF8-D53598C9C722}"/>
                </a:ext>
              </a:extLst>
            </p:cNvPr>
            <p:cNvGrpSpPr/>
            <p:nvPr/>
          </p:nvGrpSpPr>
          <p:grpSpPr>
            <a:xfrm>
              <a:off x="9429179" y="2471565"/>
              <a:ext cx="2954896" cy="2127857"/>
              <a:chOff x="9429179" y="2471565"/>
              <a:chExt cx="2954896" cy="2127857"/>
            </a:xfrm>
          </p:grpSpPr>
          <p:sp>
            <p:nvSpPr>
              <p:cNvPr id="11" name="Oval 10">
                <a:extLst>
                  <a:ext uri="{FF2B5EF4-FFF2-40B4-BE49-F238E27FC236}">
                    <a16:creationId xmlns:a16="http://schemas.microsoft.com/office/drawing/2014/main" id="{DED24AF5-4A22-905F-7D86-B5B33AC83345}"/>
                  </a:ext>
                </a:extLst>
              </p:cNvPr>
              <p:cNvSpPr>
                <a:spLocks noChangeAspect="1"/>
              </p:cNvSpPr>
              <p:nvPr/>
            </p:nvSpPr>
            <p:spPr>
              <a:xfrm>
                <a:off x="9429179" y="2471565"/>
                <a:ext cx="2127857" cy="2127857"/>
              </a:xfrm>
              <a:prstGeom prst="ellipse">
                <a:avLst/>
              </a:prstGeom>
              <a:solidFill>
                <a:srgbClr val="D883FF"/>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AB0F207-8E0C-A5E6-2BBA-711A040B6E36}"/>
                  </a:ext>
                </a:extLst>
              </p:cNvPr>
              <p:cNvSpPr txBox="1"/>
              <p:nvPr/>
            </p:nvSpPr>
            <p:spPr>
              <a:xfrm>
                <a:off x="9879566" y="3039012"/>
                <a:ext cx="2504509" cy="1200329"/>
              </a:xfrm>
              <a:prstGeom prst="rect">
                <a:avLst/>
              </a:prstGeom>
              <a:noFill/>
            </p:spPr>
            <p:txBody>
              <a:bodyPr wrap="square" lIns="91440" tIns="45720" rIns="91440" bIns="45720" rtlCol="0" anchor="t">
                <a:spAutoFit/>
              </a:bodyPr>
              <a:lstStyle/>
              <a:p>
                <a:r>
                  <a:rPr lang="en-US" dirty="0">
                    <a:latin typeface="Monaco"/>
                  </a:rPr>
                  <a:t>Program B</a:t>
                </a:r>
              </a:p>
              <a:p>
                <a:r>
                  <a:rPr lang="en-US" dirty="0">
                    <a:latin typeface="Monaco"/>
                  </a:rPr>
                  <a:t>dependency: </a:t>
                </a:r>
              </a:p>
              <a:p>
                <a:r>
                  <a:rPr lang="en-US" dirty="0">
                    <a:latin typeface="Monaco"/>
                  </a:rPr>
                  <a:t>Program Y </a:t>
                </a:r>
              </a:p>
              <a:p>
                <a:r>
                  <a:rPr lang="en-US" dirty="0">
                    <a:latin typeface="Monaco"/>
                  </a:rPr>
                  <a:t>(v2.0) </a:t>
                </a:r>
              </a:p>
            </p:txBody>
          </p:sp>
          <p:sp>
            <p:nvSpPr>
              <p:cNvPr id="15" name="TextBox 14">
                <a:extLst>
                  <a:ext uri="{FF2B5EF4-FFF2-40B4-BE49-F238E27FC236}">
                    <a16:creationId xmlns:a16="http://schemas.microsoft.com/office/drawing/2014/main" id="{6F3928BB-5CD7-8BDB-7E73-17B7353A4187}"/>
                  </a:ext>
                </a:extLst>
              </p:cNvPr>
              <p:cNvSpPr txBox="1"/>
              <p:nvPr/>
            </p:nvSpPr>
            <p:spPr>
              <a:xfrm>
                <a:off x="10027416" y="2615875"/>
                <a:ext cx="1104405" cy="400110"/>
              </a:xfrm>
              <a:prstGeom prst="rect">
                <a:avLst/>
              </a:prstGeom>
              <a:noFill/>
            </p:spPr>
            <p:txBody>
              <a:bodyPr wrap="square" rtlCol="0">
                <a:spAutoFit/>
              </a:bodyPr>
              <a:lstStyle/>
              <a:p>
                <a:r>
                  <a:rPr lang="en-US" sz="2000">
                    <a:latin typeface="Monaco" pitchFamily="2" charset="77"/>
                  </a:rPr>
                  <a:t>env_2</a:t>
                </a:r>
              </a:p>
            </p:txBody>
          </p:sp>
        </p:grpSp>
        <p:grpSp>
          <p:nvGrpSpPr>
            <p:cNvPr id="13" name="Group 12">
              <a:extLst>
                <a:ext uri="{FF2B5EF4-FFF2-40B4-BE49-F238E27FC236}">
                  <a16:creationId xmlns:a16="http://schemas.microsoft.com/office/drawing/2014/main" id="{39CA0F60-7273-80D7-573D-EFE21F8D7098}"/>
                </a:ext>
              </a:extLst>
            </p:cNvPr>
            <p:cNvGrpSpPr/>
            <p:nvPr/>
          </p:nvGrpSpPr>
          <p:grpSpPr>
            <a:xfrm>
              <a:off x="6906491" y="2047851"/>
              <a:ext cx="2039742" cy="2035629"/>
              <a:chOff x="6906491" y="2047851"/>
              <a:chExt cx="2039742" cy="2035629"/>
            </a:xfrm>
          </p:grpSpPr>
          <p:sp>
            <p:nvSpPr>
              <p:cNvPr id="10" name="Oval 9">
                <a:extLst>
                  <a:ext uri="{FF2B5EF4-FFF2-40B4-BE49-F238E27FC236}">
                    <a16:creationId xmlns:a16="http://schemas.microsoft.com/office/drawing/2014/main" id="{96C0877C-914D-01EB-E434-421FB530313C}"/>
                  </a:ext>
                </a:extLst>
              </p:cNvPr>
              <p:cNvSpPr>
                <a:spLocks noChangeAspect="1"/>
              </p:cNvSpPr>
              <p:nvPr/>
            </p:nvSpPr>
            <p:spPr>
              <a:xfrm>
                <a:off x="6906491" y="2047851"/>
                <a:ext cx="2035629" cy="2035629"/>
              </a:xfrm>
              <a:prstGeom prst="ellipse">
                <a:avLst/>
              </a:prstGeom>
              <a:solidFill>
                <a:schemeClr val="accent6">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27A3233-D761-B59F-BECF-34DA3D398F9C}"/>
                  </a:ext>
                </a:extLst>
              </p:cNvPr>
              <p:cNvSpPr txBox="1"/>
              <p:nvPr/>
            </p:nvSpPr>
            <p:spPr>
              <a:xfrm>
                <a:off x="7421045" y="2111216"/>
                <a:ext cx="1104405" cy="400110"/>
              </a:xfrm>
              <a:prstGeom prst="rect">
                <a:avLst/>
              </a:prstGeom>
              <a:noFill/>
            </p:spPr>
            <p:txBody>
              <a:bodyPr wrap="square" rtlCol="0">
                <a:spAutoFit/>
              </a:bodyPr>
              <a:lstStyle/>
              <a:p>
                <a:r>
                  <a:rPr lang="en-US" sz="2000" dirty="0">
                    <a:latin typeface="Monaco" pitchFamily="2" charset="77"/>
                  </a:rPr>
                  <a:t>env_1</a:t>
                </a:r>
              </a:p>
            </p:txBody>
          </p:sp>
          <p:sp>
            <p:nvSpPr>
              <p:cNvPr id="23" name="TextBox 22">
                <a:extLst>
                  <a:ext uri="{FF2B5EF4-FFF2-40B4-BE49-F238E27FC236}">
                    <a16:creationId xmlns:a16="http://schemas.microsoft.com/office/drawing/2014/main" id="{EF05CEDC-F5D2-532E-F648-2491E74826C4}"/>
                  </a:ext>
                </a:extLst>
              </p:cNvPr>
              <p:cNvSpPr txBox="1"/>
              <p:nvPr/>
            </p:nvSpPr>
            <p:spPr>
              <a:xfrm>
                <a:off x="7219945" y="2563141"/>
                <a:ext cx="1726288" cy="1477328"/>
              </a:xfrm>
              <a:prstGeom prst="rect">
                <a:avLst/>
              </a:prstGeom>
              <a:noFill/>
            </p:spPr>
            <p:txBody>
              <a:bodyPr wrap="square" lIns="91440" tIns="45720" rIns="91440" bIns="45720" rtlCol="0" anchor="t">
                <a:spAutoFit/>
              </a:bodyPr>
              <a:lstStyle/>
              <a:p>
                <a:r>
                  <a:rPr lang="en-US" dirty="0">
                    <a:latin typeface="Monaco"/>
                  </a:rPr>
                  <a:t>Program A</a:t>
                </a:r>
              </a:p>
              <a:p>
                <a:r>
                  <a:rPr lang="en-US" dirty="0">
                    <a:latin typeface="Monaco"/>
                  </a:rPr>
                  <a:t>dependency: </a:t>
                </a:r>
              </a:p>
              <a:p>
                <a:r>
                  <a:rPr lang="en-US" dirty="0">
                    <a:latin typeface="Monaco"/>
                  </a:rPr>
                  <a:t>Program Y (v1.0) </a:t>
                </a:r>
              </a:p>
              <a:p>
                <a:r>
                  <a:rPr lang="en-US" b="1" dirty="0">
                    <a:latin typeface="Monaco"/>
                  </a:rPr>
                  <a:t>   </a:t>
                </a:r>
                <a:endParaRPr lang="en-US" dirty="0"/>
              </a:p>
            </p:txBody>
          </p:sp>
        </p:grpSp>
      </p:grpSp>
      <p:sp>
        <p:nvSpPr>
          <p:cNvPr id="5" name="Slide Number Placeholder 4">
            <a:extLst>
              <a:ext uri="{FF2B5EF4-FFF2-40B4-BE49-F238E27FC236}">
                <a16:creationId xmlns:a16="http://schemas.microsoft.com/office/drawing/2014/main" id="{C833F1D0-7852-2168-0F8C-3615DAB0314C}"/>
              </a:ext>
            </a:extLst>
          </p:cNvPr>
          <p:cNvSpPr>
            <a:spLocks noGrp="1"/>
          </p:cNvSpPr>
          <p:nvPr>
            <p:ph type="sldNum" sz="quarter" idx="12"/>
          </p:nvPr>
        </p:nvSpPr>
        <p:spPr/>
        <p:txBody>
          <a:bodyPr/>
          <a:lstStyle/>
          <a:p>
            <a:fld id="{ABDA560F-461C-6043-9BC4-489BA92F7161}" type="slidenum">
              <a:rPr lang="en-US" smtClean="0"/>
              <a:t>8</a:t>
            </a:fld>
            <a:endParaRPr lang="en-US"/>
          </a:p>
        </p:txBody>
      </p:sp>
      <p:grpSp>
        <p:nvGrpSpPr>
          <p:cNvPr id="3" name="Group 2">
            <a:extLst>
              <a:ext uri="{FF2B5EF4-FFF2-40B4-BE49-F238E27FC236}">
                <a16:creationId xmlns:a16="http://schemas.microsoft.com/office/drawing/2014/main" id="{55AE9904-F94C-A4D3-395B-8CAB7913C8EE}"/>
              </a:ext>
            </a:extLst>
          </p:cNvPr>
          <p:cNvGrpSpPr/>
          <p:nvPr/>
        </p:nvGrpSpPr>
        <p:grpSpPr>
          <a:xfrm>
            <a:off x="7062437" y="178987"/>
            <a:ext cx="4575568" cy="1259754"/>
            <a:chOff x="7062437" y="178987"/>
            <a:chExt cx="4575568" cy="1259754"/>
          </a:xfrm>
        </p:grpSpPr>
        <p:pic>
          <p:nvPicPr>
            <p:cNvPr id="4" name="Picture 3" descr="Conda package/environment manager logo">
              <a:extLst>
                <a:ext uri="{FF2B5EF4-FFF2-40B4-BE49-F238E27FC236}">
                  <a16:creationId xmlns:a16="http://schemas.microsoft.com/office/drawing/2014/main" id="{D2F75717-B394-9554-50CE-2FC9792E7031}"/>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7" name="Picture 6">
              <a:extLst>
                <a:ext uri="{FF2B5EF4-FFF2-40B4-BE49-F238E27FC236}">
                  <a16:creationId xmlns:a16="http://schemas.microsoft.com/office/drawing/2014/main" id="{71064418-11F7-9751-DF75-010915B62E93}"/>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2276316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53995" y="365123"/>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a:bodyPr>
          <a:lstStyle/>
          <a:p>
            <a:pPr marL="0" indent="0">
              <a:buNone/>
            </a:pPr>
            <a:r>
              <a:rPr lang="en-US" dirty="0">
                <a:latin typeface="Helvetica Neue" panose="02000503000000020004"/>
              </a:rPr>
              <a:t>Mamba and Conda are package (software) managers that allow you to</a:t>
            </a:r>
          </a:p>
          <a:p>
            <a:r>
              <a:rPr lang="en-US" dirty="0">
                <a:latin typeface="Helvetica Neue" panose="02000503000000020004"/>
              </a:rPr>
              <a:t>Install, run, and update packages (and their dependencies)</a:t>
            </a:r>
          </a:p>
          <a:p>
            <a:r>
              <a:rPr lang="en-US" dirty="0">
                <a:latin typeface="Helvetica Neue" panose="02000503000000020004"/>
              </a:rPr>
              <a:t>Create, save, load, and switch between virtual environments</a:t>
            </a:r>
          </a:p>
          <a:p>
            <a:r>
              <a:rPr lang="en-US" dirty="0">
                <a:latin typeface="Helvetica Neue" panose="02000503000000020004"/>
              </a:rPr>
              <a:t>Package and distribute software for any language</a:t>
            </a:r>
          </a:p>
          <a:p>
            <a:pPr marL="0" indent="0">
              <a:buNone/>
            </a:pPr>
            <a:endParaRPr lang="en-US" sz="1200" dirty="0">
              <a:latin typeface="Helvetica Neue" panose="02000503000000020004"/>
            </a:endParaRPr>
          </a:p>
          <a:p>
            <a:pPr marL="0" indent="0">
              <a:buNone/>
            </a:pPr>
            <a:r>
              <a:rPr lang="en-US" dirty="0">
                <a:latin typeface="Helvetica Neue" panose="02000503000000020004"/>
              </a:rPr>
              <a:t>Mamba is a fast, robust, and more reliable cross-platform package manager that aims to be a drop-in replacement for Conda</a:t>
            </a:r>
          </a:p>
        </p:txBody>
      </p:sp>
      <p:sp>
        <p:nvSpPr>
          <p:cNvPr id="5" name="Slide Number Placeholder 4">
            <a:extLst>
              <a:ext uri="{FF2B5EF4-FFF2-40B4-BE49-F238E27FC236}">
                <a16:creationId xmlns:a16="http://schemas.microsoft.com/office/drawing/2014/main" id="{A7987333-E3ED-B77C-EB39-25FC3914645A}"/>
              </a:ext>
            </a:extLst>
          </p:cNvPr>
          <p:cNvSpPr>
            <a:spLocks noGrp="1"/>
          </p:cNvSpPr>
          <p:nvPr>
            <p:ph type="sldNum" sz="quarter" idx="12"/>
          </p:nvPr>
        </p:nvSpPr>
        <p:spPr/>
        <p:txBody>
          <a:bodyPr/>
          <a:lstStyle/>
          <a:p>
            <a:fld id="{ABDA560F-461C-6043-9BC4-489BA92F7161}" type="slidenum">
              <a:rPr lang="en-US" smtClean="0"/>
              <a:t>9</a:t>
            </a:fld>
            <a:endParaRPr lang="en-US"/>
          </a:p>
        </p:txBody>
      </p:sp>
      <p:grpSp>
        <p:nvGrpSpPr>
          <p:cNvPr id="13" name="Group 12">
            <a:extLst>
              <a:ext uri="{FF2B5EF4-FFF2-40B4-BE49-F238E27FC236}">
                <a16:creationId xmlns:a16="http://schemas.microsoft.com/office/drawing/2014/main" id="{04B328C3-BA9F-4749-6311-B2C6E89DF11E}"/>
              </a:ext>
            </a:extLst>
          </p:cNvPr>
          <p:cNvGrpSpPr/>
          <p:nvPr/>
        </p:nvGrpSpPr>
        <p:grpSpPr>
          <a:xfrm>
            <a:off x="7062437" y="178987"/>
            <a:ext cx="4575568" cy="1259754"/>
            <a:chOff x="7062437" y="178987"/>
            <a:chExt cx="4575568" cy="1259754"/>
          </a:xfrm>
        </p:grpSpPr>
        <p:pic>
          <p:nvPicPr>
            <p:cNvPr id="7" name="Picture 6" descr="Conda package/environment manager logo">
              <a:extLst>
                <a:ext uri="{FF2B5EF4-FFF2-40B4-BE49-F238E27FC236}">
                  <a16:creationId xmlns:a16="http://schemas.microsoft.com/office/drawing/2014/main" id="{D7D92545-72A4-67F5-AF34-8F16FE07B1FE}"/>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12" name="Picture 11">
              <a:extLst>
                <a:ext uri="{FF2B5EF4-FFF2-40B4-BE49-F238E27FC236}">
                  <a16:creationId xmlns:a16="http://schemas.microsoft.com/office/drawing/2014/main" id="{46047A62-C97E-DB52-6CE4-2A9B9A6D2627}"/>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2439742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FD7D5-EF02-0303-6286-18C56424DA0E}"/>
              </a:ext>
            </a:extLst>
          </p:cNvPr>
          <p:cNvSpPr>
            <a:spLocks noGrp="1"/>
          </p:cNvSpPr>
          <p:nvPr>
            <p:ph type="title"/>
          </p:nvPr>
        </p:nvSpPr>
        <p:spPr>
          <a:xfrm>
            <a:off x="585534" y="106021"/>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endParaRPr lang="en-US" dirty="0">
              <a:solidFill>
                <a:schemeClr val="bg1"/>
              </a:solidFill>
            </a:endParaRPr>
          </a:p>
        </p:txBody>
      </p:sp>
      <p:sp>
        <p:nvSpPr>
          <p:cNvPr id="3" name="Content Placeholder 2">
            <a:extLst>
              <a:ext uri="{FF2B5EF4-FFF2-40B4-BE49-F238E27FC236}">
                <a16:creationId xmlns:a16="http://schemas.microsoft.com/office/drawing/2014/main" id="{28B85D66-276C-C475-3E49-1472E210E560}"/>
              </a:ext>
            </a:extLst>
          </p:cNvPr>
          <p:cNvSpPr>
            <a:spLocks noGrp="1"/>
          </p:cNvSpPr>
          <p:nvPr>
            <p:ph idx="1"/>
          </p:nvPr>
        </p:nvSpPr>
        <p:spPr>
          <a:xfrm>
            <a:off x="838200" y="1499393"/>
            <a:ext cx="10515600" cy="4351338"/>
          </a:xfrm>
        </p:spPr>
        <p:txBody>
          <a:bodyPr>
            <a:normAutofit/>
          </a:bodyPr>
          <a:lstStyle/>
          <a:p>
            <a:pPr marL="0" indent="0">
              <a:buNone/>
            </a:pPr>
            <a:r>
              <a:rPr lang="en-US" dirty="0">
                <a:latin typeface="Helvetica Neue" panose="02000503000000020004"/>
              </a:rPr>
              <a:t>To access Mamba or Conda on our system, you should load the Miniforge module (once you are on a compute node):</a:t>
            </a:r>
          </a:p>
          <a:p>
            <a:pPr marL="0" indent="0">
              <a:buNone/>
            </a:pPr>
            <a:endParaRPr lang="en-US" dirty="0">
              <a:latin typeface="Helvetica Neue" panose="02000503000000020004"/>
            </a:endParaRPr>
          </a:p>
          <a:p>
            <a:pPr marL="0" indent="0">
              <a:buNone/>
            </a:pPr>
            <a:endParaRPr lang="en-US" dirty="0">
              <a:latin typeface="Helvetica Neue" panose="02000503000000020004"/>
            </a:endParaRPr>
          </a:p>
          <a:p>
            <a:pPr marL="0" indent="0">
              <a:buNone/>
            </a:pPr>
            <a:endParaRPr lang="en-US" sz="1200" dirty="0">
              <a:latin typeface="Helvetica Neue" panose="02000503000000020004"/>
            </a:endParaRPr>
          </a:p>
          <a:p>
            <a:pPr marL="0" indent="0">
              <a:buNone/>
            </a:pPr>
            <a:r>
              <a:rPr lang="en-US" dirty="0">
                <a:latin typeface="Helvetica Neue" panose="02000503000000020004"/>
              </a:rPr>
              <a:t>We highly recommend that you use our module as we ensure that installations are redirected to the appropriate places. For example, we ensure environments are installed in: </a:t>
            </a:r>
          </a:p>
        </p:txBody>
      </p:sp>
      <p:sp>
        <p:nvSpPr>
          <p:cNvPr id="7" name="Slide Number Placeholder 6">
            <a:extLst>
              <a:ext uri="{FF2B5EF4-FFF2-40B4-BE49-F238E27FC236}">
                <a16:creationId xmlns:a16="http://schemas.microsoft.com/office/drawing/2014/main" id="{CCA7D22D-4E98-A241-FBA3-1E494CE38D54}"/>
              </a:ext>
            </a:extLst>
          </p:cNvPr>
          <p:cNvSpPr>
            <a:spLocks noGrp="1"/>
          </p:cNvSpPr>
          <p:nvPr>
            <p:ph type="sldNum" sz="quarter" idx="12"/>
          </p:nvPr>
        </p:nvSpPr>
        <p:spPr/>
        <p:txBody>
          <a:bodyPr/>
          <a:lstStyle/>
          <a:p>
            <a:fld id="{ABDA560F-461C-6043-9BC4-489BA92F7161}" type="slidenum">
              <a:rPr lang="en-US" smtClean="0"/>
              <a:t>10</a:t>
            </a:fld>
            <a:endParaRPr lang="en-US"/>
          </a:p>
        </p:txBody>
      </p:sp>
      <p:grpSp>
        <p:nvGrpSpPr>
          <p:cNvPr id="4" name="Group 3">
            <a:extLst>
              <a:ext uri="{FF2B5EF4-FFF2-40B4-BE49-F238E27FC236}">
                <a16:creationId xmlns:a16="http://schemas.microsoft.com/office/drawing/2014/main" id="{F7A88247-7720-603D-8D10-DEB92C2E3759}"/>
              </a:ext>
            </a:extLst>
          </p:cNvPr>
          <p:cNvGrpSpPr/>
          <p:nvPr/>
        </p:nvGrpSpPr>
        <p:grpSpPr>
          <a:xfrm>
            <a:off x="7062437" y="178987"/>
            <a:ext cx="4575568" cy="1259754"/>
            <a:chOff x="7062437" y="178987"/>
            <a:chExt cx="4575568" cy="1259754"/>
          </a:xfrm>
        </p:grpSpPr>
        <p:pic>
          <p:nvPicPr>
            <p:cNvPr id="5" name="Picture 4" descr="Conda package/environment manager logo">
              <a:extLst>
                <a:ext uri="{FF2B5EF4-FFF2-40B4-BE49-F238E27FC236}">
                  <a16:creationId xmlns:a16="http://schemas.microsoft.com/office/drawing/2014/main" id="{D674DBD0-806E-35DF-6982-2F8FE8C0D10E}"/>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1" name="Picture 10">
              <a:extLst>
                <a:ext uri="{FF2B5EF4-FFF2-40B4-BE49-F238E27FC236}">
                  <a16:creationId xmlns:a16="http://schemas.microsoft.com/office/drawing/2014/main" id="{9866C9A8-E21B-686D-7FE8-D4F129B581B4}"/>
                </a:ext>
              </a:extLst>
            </p:cNvPr>
            <p:cNvPicPr>
              <a:picLocks noChangeAspect="1"/>
            </p:cNvPicPr>
            <p:nvPr/>
          </p:nvPicPr>
          <p:blipFill>
            <a:blip r:embed="rId4"/>
            <a:stretch>
              <a:fillRect/>
            </a:stretch>
          </p:blipFill>
          <p:spPr>
            <a:xfrm>
              <a:off x="7062437" y="178987"/>
              <a:ext cx="1967184" cy="1259754"/>
            </a:xfrm>
            <a:prstGeom prst="rect">
              <a:avLst/>
            </a:prstGeom>
          </p:spPr>
        </p:pic>
      </p:grpSp>
      <p:sp>
        <p:nvSpPr>
          <p:cNvPr id="12" name="Rectangle 11">
            <a:extLst>
              <a:ext uri="{FF2B5EF4-FFF2-40B4-BE49-F238E27FC236}">
                <a16:creationId xmlns:a16="http://schemas.microsoft.com/office/drawing/2014/main" id="{8D43E96F-D3A8-CF1A-4E9A-22281B8BF1A2}"/>
              </a:ext>
            </a:extLst>
          </p:cNvPr>
          <p:cNvSpPr/>
          <p:nvPr/>
        </p:nvSpPr>
        <p:spPr>
          <a:xfrm>
            <a:off x="1388158" y="2756709"/>
            <a:ext cx="4707842"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 module load miniforge</a:t>
            </a:r>
          </a:p>
        </p:txBody>
      </p:sp>
      <p:sp>
        <p:nvSpPr>
          <p:cNvPr id="15" name="Rectangle 14">
            <a:extLst>
              <a:ext uri="{FF2B5EF4-FFF2-40B4-BE49-F238E27FC236}">
                <a16:creationId xmlns:a16="http://schemas.microsoft.com/office/drawing/2014/main" id="{4B9A9674-ACB2-D12B-3D56-86B4749E168C}"/>
              </a:ext>
            </a:extLst>
          </p:cNvPr>
          <p:cNvSpPr/>
          <p:nvPr/>
        </p:nvSpPr>
        <p:spPr>
          <a:xfrm>
            <a:off x="1388158" y="5229873"/>
            <a:ext cx="6566284"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/projects/$USER/software/anaconda/</a:t>
            </a:r>
            <a:r>
              <a:rPr lang="en-US" sz="2000" b="1" dirty="0" err="1">
                <a:solidFill>
                  <a:schemeClr val="tx1"/>
                </a:solidFill>
                <a:latin typeface="Courier New" panose="02070309020205020404" pitchFamily="49" charset="0"/>
                <a:cs typeface="Courier New" panose="02070309020205020404" pitchFamily="49" charset="0"/>
              </a:rPr>
              <a:t>envs</a:t>
            </a:r>
            <a:endParaRPr lang="en-US" sz="20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4146605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645690"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699737" y="1940579"/>
            <a:ext cx="10515600" cy="897843"/>
          </a:xfrm>
        </p:spPr>
        <p:txBody>
          <a:bodyPr>
            <a:normAutofit/>
          </a:bodyPr>
          <a:lstStyle/>
          <a:p>
            <a:pPr marL="0" indent="0">
              <a:buNone/>
            </a:pPr>
            <a:r>
              <a:rPr lang="en-US" dirty="0">
                <a:latin typeface="Helvetica Neue" panose="02000503000000020004"/>
              </a:rPr>
              <a:t>Environments are created and programs are installed in a few simple steps</a:t>
            </a:r>
          </a:p>
          <a:p>
            <a:pPr marL="0" indent="0">
              <a:buNone/>
            </a:pPr>
            <a:endParaRPr lang="en-US" dirty="0">
              <a:latin typeface="Helvetica Neue" panose="02000503000000020004"/>
            </a:endParaRPr>
          </a:p>
        </p:txBody>
      </p:sp>
      <p:sp>
        <p:nvSpPr>
          <p:cNvPr id="9" name="Content Placeholder 2">
            <a:extLst>
              <a:ext uri="{FF2B5EF4-FFF2-40B4-BE49-F238E27FC236}">
                <a16:creationId xmlns:a16="http://schemas.microsoft.com/office/drawing/2014/main" id="{935AAD4B-47C7-6360-8BAF-747D2D3FF4DB}"/>
              </a:ext>
            </a:extLst>
          </p:cNvPr>
          <p:cNvSpPr txBox="1">
            <a:spLocks/>
          </p:cNvSpPr>
          <p:nvPr/>
        </p:nvSpPr>
        <p:spPr>
          <a:xfrm>
            <a:off x="766921" y="5123733"/>
            <a:ext cx="9515706" cy="688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FF0000"/>
                </a:solidFill>
                <a:latin typeface="Helvetica Neue" panose="02000503000000020004"/>
              </a:rPr>
              <a:t>Warning: Don’t install packages in your base environment!</a:t>
            </a:r>
          </a:p>
        </p:txBody>
      </p:sp>
      <p:sp>
        <p:nvSpPr>
          <p:cNvPr id="5" name="Slide Number Placeholder 4">
            <a:extLst>
              <a:ext uri="{FF2B5EF4-FFF2-40B4-BE49-F238E27FC236}">
                <a16:creationId xmlns:a16="http://schemas.microsoft.com/office/drawing/2014/main" id="{ED3B6AF8-5FAE-B273-7708-996A2D3AB3DF}"/>
              </a:ext>
            </a:extLst>
          </p:cNvPr>
          <p:cNvSpPr>
            <a:spLocks noGrp="1"/>
          </p:cNvSpPr>
          <p:nvPr>
            <p:ph type="sldNum" sz="quarter" idx="12"/>
          </p:nvPr>
        </p:nvSpPr>
        <p:spPr/>
        <p:txBody>
          <a:bodyPr/>
          <a:lstStyle/>
          <a:p>
            <a:fld id="{ABDA560F-461C-6043-9BC4-489BA92F7161}" type="slidenum">
              <a:rPr lang="en-US" smtClean="0"/>
              <a:t>11</a:t>
            </a:fld>
            <a:endParaRPr lang="en-US"/>
          </a:p>
        </p:txBody>
      </p:sp>
      <p:grpSp>
        <p:nvGrpSpPr>
          <p:cNvPr id="4" name="Group 3">
            <a:extLst>
              <a:ext uri="{FF2B5EF4-FFF2-40B4-BE49-F238E27FC236}">
                <a16:creationId xmlns:a16="http://schemas.microsoft.com/office/drawing/2014/main" id="{2EB86F51-99F3-8E1E-369D-F03F1824818D}"/>
              </a:ext>
            </a:extLst>
          </p:cNvPr>
          <p:cNvGrpSpPr/>
          <p:nvPr/>
        </p:nvGrpSpPr>
        <p:grpSpPr>
          <a:xfrm>
            <a:off x="7046555" y="136525"/>
            <a:ext cx="4575568" cy="1259754"/>
            <a:chOff x="7062437" y="178987"/>
            <a:chExt cx="4575568" cy="1259754"/>
          </a:xfrm>
        </p:grpSpPr>
        <p:pic>
          <p:nvPicPr>
            <p:cNvPr id="11" name="Picture 10" descr="Conda package/environment manager logo">
              <a:extLst>
                <a:ext uri="{FF2B5EF4-FFF2-40B4-BE49-F238E27FC236}">
                  <a16:creationId xmlns:a16="http://schemas.microsoft.com/office/drawing/2014/main" id="{E9E989F7-3BA0-3466-3C73-51C82DED8DF5}"/>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2" name="Picture 11">
              <a:extLst>
                <a:ext uri="{FF2B5EF4-FFF2-40B4-BE49-F238E27FC236}">
                  <a16:creationId xmlns:a16="http://schemas.microsoft.com/office/drawing/2014/main" id="{A99D7407-BBBE-722C-B6F1-306EE2FAED40}"/>
                </a:ext>
              </a:extLst>
            </p:cNvPr>
            <p:cNvPicPr>
              <a:picLocks noChangeAspect="1"/>
            </p:cNvPicPr>
            <p:nvPr/>
          </p:nvPicPr>
          <p:blipFill>
            <a:blip r:embed="rId4"/>
            <a:stretch>
              <a:fillRect/>
            </a:stretch>
          </p:blipFill>
          <p:spPr>
            <a:xfrm>
              <a:off x="7062437" y="178987"/>
              <a:ext cx="1967184" cy="1259754"/>
            </a:xfrm>
            <a:prstGeom prst="rect">
              <a:avLst/>
            </a:prstGeom>
          </p:spPr>
        </p:pic>
      </p:grpSp>
      <p:sp>
        <p:nvSpPr>
          <p:cNvPr id="13" name="Rectangle 12">
            <a:extLst>
              <a:ext uri="{FF2B5EF4-FFF2-40B4-BE49-F238E27FC236}">
                <a16:creationId xmlns:a16="http://schemas.microsoft.com/office/drawing/2014/main" id="{7AF6CEC2-8B60-C28C-C954-8DA5766B3E80}"/>
              </a:ext>
            </a:extLst>
          </p:cNvPr>
          <p:cNvSpPr/>
          <p:nvPr/>
        </p:nvSpPr>
        <p:spPr>
          <a:xfrm>
            <a:off x="838197" y="3133019"/>
            <a:ext cx="10238679" cy="1582719"/>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 module load miniforge</a:t>
            </a:r>
          </a:p>
          <a:p>
            <a:r>
              <a:rPr lang="en-US" sz="2000" b="1" dirty="0">
                <a:solidFill>
                  <a:schemeClr val="tx1"/>
                </a:solidFill>
                <a:latin typeface="Courier New" panose="02070309020205020404" pitchFamily="49" charset="0"/>
                <a:cs typeface="Courier New" panose="02070309020205020404" pitchFamily="49" charset="0"/>
              </a:rPr>
              <a:t>(base)$ mamba create -n </a:t>
            </a:r>
            <a:r>
              <a:rPr lang="en-US" sz="2000" b="1" dirty="0" err="1">
                <a:solidFill>
                  <a:schemeClr val="tx1"/>
                </a:solidFill>
                <a:latin typeface="Courier New" panose="02070309020205020404" pitchFamily="49" charset="0"/>
                <a:cs typeface="Courier New" panose="02070309020205020404" pitchFamily="49" charset="0"/>
              </a:rPr>
              <a:t>my_first_env</a:t>
            </a:r>
            <a:r>
              <a:rPr lang="en-US" sz="2000" b="1" dirty="0">
                <a:solidFill>
                  <a:schemeClr val="tx1"/>
                </a:solidFill>
                <a:latin typeface="Courier New" panose="02070309020205020404" pitchFamily="49" charset="0"/>
                <a:cs typeface="Courier New" panose="02070309020205020404" pitchFamily="49" charset="0"/>
              </a:rPr>
              <a:t> python==3.10</a:t>
            </a:r>
          </a:p>
          <a:p>
            <a:r>
              <a:rPr lang="en-US" sz="2000" b="1" dirty="0">
                <a:solidFill>
                  <a:schemeClr val="tx1"/>
                </a:solidFill>
                <a:latin typeface="Courier New" panose="02070309020205020404" pitchFamily="49" charset="0"/>
                <a:cs typeface="Courier New" panose="02070309020205020404" pitchFamily="49" charset="0"/>
              </a:rPr>
              <a:t>(base)$ mamba activate </a:t>
            </a:r>
            <a:r>
              <a:rPr lang="en-US" sz="2000" b="1" dirty="0" err="1">
                <a:solidFill>
                  <a:schemeClr val="tx1"/>
                </a:solidFill>
                <a:latin typeface="Courier New" panose="02070309020205020404" pitchFamily="49" charset="0"/>
                <a:cs typeface="Courier New" panose="02070309020205020404" pitchFamily="49" charset="0"/>
              </a:rPr>
              <a:t>my_first_env</a:t>
            </a:r>
            <a:endParaRPr lang="en-US" sz="2000" b="1" dirty="0">
              <a:solidFill>
                <a:schemeClr val="tx1"/>
              </a:solidFill>
              <a:latin typeface="Courier New" panose="02070309020205020404" pitchFamily="49" charset="0"/>
              <a:cs typeface="Courier New" panose="02070309020205020404" pitchFamily="49" charset="0"/>
            </a:endParaRPr>
          </a:p>
          <a:p>
            <a:r>
              <a:rPr lang="en-US" sz="2000" b="1" dirty="0">
                <a:solidFill>
                  <a:schemeClr val="tx1"/>
                </a:solidFill>
                <a:latin typeface="Courier New" panose="02070309020205020404" pitchFamily="49" charset="0"/>
                <a:cs typeface="Courier New" panose="02070309020205020404" pitchFamily="49" charset="0"/>
              </a:rPr>
              <a:t>(</a:t>
            </a:r>
            <a:r>
              <a:rPr lang="en-US" sz="2000" b="1" dirty="0" err="1">
                <a:solidFill>
                  <a:schemeClr val="tx1"/>
                </a:solidFill>
                <a:latin typeface="Courier New" panose="02070309020205020404" pitchFamily="49" charset="0"/>
                <a:cs typeface="Courier New" panose="02070309020205020404" pitchFamily="49" charset="0"/>
              </a:rPr>
              <a:t>my_first_env</a:t>
            </a:r>
            <a:r>
              <a:rPr lang="en-US" sz="2000" b="1" dirty="0">
                <a:solidFill>
                  <a:schemeClr val="tx1"/>
                </a:solidFill>
                <a:latin typeface="Courier New" panose="02070309020205020404" pitchFamily="49" charset="0"/>
                <a:cs typeface="Courier New" panose="02070309020205020404" pitchFamily="49" charset="0"/>
              </a:rPr>
              <a:t>)$ python</a:t>
            </a:r>
          </a:p>
        </p:txBody>
      </p:sp>
    </p:spTree>
    <p:extLst>
      <p:ext uri="{BB962C8B-B14F-4D97-AF65-F5344CB8AC3E}">
        <p14:creationId xmlns:p14="http://schemas.microsoft.com/office/powerpoint/2010/main" val="1051023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681794"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Packages are installed within </a:t>
            </a:r>
            <a:r>
              <a:rPr lang="en-US" b="1" dirty="0">
                <a:latin typeface="Helvetica Neue" panose="02000503000000020004"/>
              </a:rPr>
              <a:t>activated</a:t>
            </a:r>
            <a:r>
              <a:rPr lang="en-US" dirty="0">
                <a:latin typeface="Helvetica Neue" panose="02000503000000020004"/>
              </a:rPr>
              <a:t> environments </a:t>
            </a:r>
          </a:p>
          <a:p>
            <a:pPr lvl="1"/>
            <a:r>
              <a:rPr lang="en-US" dirty="0">
                <a:latin typeface="Helvetica Neue" panose="02000503000000020004"/>
              </a:rPr>
              <a:t>using mamba install (preferred method, when available)</a:t>
            </a:r>
          </a:p>
          <a:p>
            <a:pPr lvl="1"/>
            <a:r>
              <a:rPr lang="en-US" dirty="0">
                <a:latin typeface="Helvetica Neue" panose="02000503000000020004"/>
              </a:rPr>
              <a:t>using pip install (if you must)</a:t>
            </a:r>
          </a:p>
          <a:p>
            <a:pPr lvl="1"/>
            <a:endParaRPr lang="en-US" dirty="0">
              <a:latin typeface="Helvetica Neue" panose="02000503000000020004"/>
            </a:endParaRPr>
          </a:p>
          <a:p>
            <a:pPr lvl="1"/>
            <a:endParaRPr lang="en-US" dirty="0">
              <a:latin typeface="Helvetica Neue" panose="02000503000000020004"/>
            </a:endParaRPr>
          </a:p>
          <a:p>
            <a:pPr marL="0" indent="0">
              <a:buNone/>
            </a:pPr>
            <a:endParaRPr lang="en-US" dirty="0">
              <a:latin typeface="Helvetica Neue" panose="02000503000000020004"/>
            </a:endParaRPr>
          </a:p>
          <a:p>
            <a:endParaRPr lang="en-US" dirty="0">
              <a:latin typeface="Helvetica Neue" panose="02000503000000020004"/>
            </a:endParaRPr>
          </a:p>
          <a:p>
            <a:pPr marL="0" indent="0">
              <a:buNone/>
            </a:pPr>
            <a:endParaRPr lang="en-US" dirty="0">
              <a:latin typeface="Helvetica Neue" panose="02000503000000020004"/>
            </a:endParaRPr>
          </a:p>
        </p:txBody>
      </p:sp>
      <p:sp>
        <p:nvSpPr>
          <p:cNvPr id="11" name="Content Placeholder 2">
            <a:extLst>
              <a:ext uri="{FF2B5EF4-FFF2-40B4-BE49-F238E27FC236}">
                <a16:creationId xmlns:a16="http://schemas.microsoft.com/office/drawing/2014/main" id="{1F2EDDDF-27D3-CF3F-CAA5-ACA9EC2DC605}"/>
              </a:ext>
            </a:extLst>
          </p:cNvPr>
          <p:cNvSpPr txBox="1">
            <a:spLocks/>
          </p:cNvSpPr>
          <p:nvPr/>
        </p:nvSpPr>
        <p:spPr>
          <a:xfrm>
            <a:off x="904407" y="3399002"/>
            <a:ext cx="10800846" cy="5800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latin typeface="Century Gothic" panose="020B0502020202020204" pitchFamily="34" charset="0"/>
            </a:endParaRPr>
          </a:p>
        </p:txBody>
      </p:sp>
      <p:grpSp>
        <p:nvGrpSpPr>
          <p:cNvPr id="10" name="Group 9">
            <a:extLst>
              <a:ext uri="{FF2B5EF4-FFF2-40B4-BE49-F238E27FC236}">
                <a16:creationId xmlns:a16="http://schemas.microsoft.com/office/drawing/2014/main" id="{FE5F2C54-B08F-1419-E1F2-4B8194B228D7}"/>
              </a:ext>
            </a:extLst>
          </p:cNvPr>
          <p:cNvGrpSpPr/>
          <p:nvPr/>
        </p:nvGrpSpPr>
        <p:grpSpPr>
          <a:xfrm>
            <a:off x="838200" y="3130997"/>
            <a:ext cx="10515600" cy="1796363"/>
            <a:chOff x="648457" y="3124385"/>
            <a:chExt cx="10895086" cy="2180089"/>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654291"/>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38200" y="3124385"/>
              <a:ext cx="10515600" cy="218008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Courier New" panose="02070309020205020404" pitchFamily="49" charset="0"/>
                <a:cs typeface="Courier New" panose="02070309020205020404" pitchFamily="49" charset="0"/>
              </a:endParaRP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mamba install pandas		#install latest pandas</a:t>
              </a:r>
            </a:p>
            <a:p>
              <a:pPr marL="0" indent="0">
                <a:lnSpc>
                  <a:spcPct val="120000"/>
                </a:lnSpc>
                <a:buNone/>
              </a:pPr>
              <a:r>
                <a:rPr lang="en-US" sz="2400" b="1" dirty="0">
                  <a:latin typeface="Courier New" panose="02070309020205020404" pitchFamily="49" charset="0"/>
                  <a:cs typeface="Courier New" panose="02070309020205020404" pitchFamily="49" charset="0"/>
                </a:rPr>
                <a:t>$ mamba install pandas==2.3.3	#install specific version of pandas</a:t>
              </a:r>
              <a:r>
                <a:rPr lang="en-US" sz="2400" dirty="0">
                  <a:latin typeface="Monaco" pitchFamily="2" charset="77"/>
                </a:rPr>
                <a:t>	</a:t>
              </a:r>
            </a:p>
            <a:p>
              <a:pPr marL="0" indent="0">
                <a:buNone/>
              </a:pPr>
              <a:r>
                <a:rPr lang="en-US" sz="2400" dirty="0">
                  <a:latin typeface="Monaco" pitchFamily="2" charset="77"/>
                </a:rPr>
                <a:t>	</a:t>
              </a:r>
            </a:p>
          </p:txBody>
        </p:sp>
      </p:grpSp>
      <p:sp>
        <p:nvSpPr>
          <p:cNvPr id="5" name="Slide Number Placeholder 4">
            <a:extLst>
              <a:ext uri="{FF2B5EF4-FFF2-40B4-BE49-F238E27FC236}">
                <a16:creationId xmlns:a16="http://schemas.microsoft.com/office/drawing/2014/main" id="{159FC89E-1AE3-7C43-9297-77F5A9857A5D}"/>
              </a:ext>
            </a:extLst>
          </p:cNvPr>
          <p:cNvSpPr>
            <a:spLocks noGrp="1"/>
          </p:cNvSpPr>
          <p:nvPr>
            <p:ph type="sldNum" sz="quarter" idx="12"/>
          </p:nvPr>
        </p:nvSpPr>
        <p:spPr/>
        <p:txBody>
          <a:bodyPr/>
          <a:lstStyle/>
          <a:p>
            <a:fld id="{ABDA560F-461C-6043-9BC4-489BA92F7161}" type="slidenum">
              <a:rPr lang="en-US" smtClean="0"/>
              <a:t>12</a:t>
            </a:fld>
            <a:endParaRPr lang="en-US"/>
          </a:p>
        </p:txBody>
      </p:sp>
      <p:grpSp>
        <p:nvGrpSpPr>
          <p:cNvPr id="9" name="Group 8">
            <a:extLst>
              <a:ext uri="{FF2B5EF4-FFF2-40B4-BE49-F238E27FC236}">
                <a16:creationId xmlns:a16="http://schemas.microsoft.com/office/drawing/2014/main" id="{135E1F56-FFCD-E6DF-3643-74051A07CC50}"/>
              </a:ext>
            </a:extLst>
          </p:cNvPr>
          <p:cNvGrpSpPr/>
          <p:nvPr/>
        </p:nvGrpSpPr>
        <p:grpSpPr>
          <a:xfrm>
            <a:off x="846609" y="4296165"/>
            <a:ext cx="10515600" cy="1289729"/>
            <a:chOff x="569877" y="3670519"/>
            <a:chExt cx="11135376" cy="1426111"/>
          </a:xfrm>
        </p:grpSpPr>
        <p:sp>
          <p:nvSpPr>
            <p:cNvPr id="4" name="Rectangle 3">
              <a:extLst>
                <a:ext uri="{FF2B5EF4-FFF2-40B4-BE49-F238E27FC236}">
                  <a16:creationId xmlns:a16="http://schemas.microsoft.com/office/drawing/2014/main" id="{A80729F3-D412-FC2D-BD21-74C655745520}"/>
                </a:ext>
              </a:extLst>
            </p:cNvPr>
            <p:cNvSpPr/>
            <p:nvPr/>
          </p:nvSpPr>
          <p:spPr>
            <a:xfrm>
              <a:off x="569877" y="4014471"/>
              <a:ext cx="11135376" cy="1082159"/>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786152A-417D-EBD2-9DDF-DF72C2917EDF}"/>
                </a:ext>
              </a:extLst>
            </p:cNvPr>
            <p:cNvSpPr txBox="1">
              <a:spLocks/>
            </p:cNvSpPr>
            <p:nvPr/>
          </p:nvSpPr>
          <p:spPr>
            <a:xfrm>
              <a:off x="796660" y="3670519"/>
              <a:ext cx="10764939" cy="1190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latin typeface="Century Gothic" panose="020B0502020202020204" pitchFamily="34" charset="0"/>
              </a:endParaRPr>
            </a:p>
            <a:p>
              <a:pPr marL="0" indent="0">
                <a:lnSpc>
                  <a:spcPct val="17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 pip install --no-cache-</a:t>
              </a:r>
              <a:r>
                <a:rPr lang="en-US" sz="2000" b="1" dirty="0" err="1">
                  <a:latin typeface="Courier New" panose="02070309020205020404" pitchFamily="49" charset="0"/>
                  <a:cs typeface="Courier New" panose="02070309020205020404" pitchFamily="49" charset="0"/>
                </a:rPr>
                <a:t>dir</a:t>
              </a:r>
              <a:r>
                <a:rPr lang="en-US" sz="2000" b="1" dirty="0">
                  <a:latin typeface="Courier New" panose="02070309020205020404" pitchFamily="49" charset="0"/>
                  <a:cs typeface="Courier New" panose="02070309020205020404" pitchFamily="49" charset="0"/>
                </a:rPr>
                <a:t> pandas		#install latest pandas</a:t>
              </a:r>
              <a:endParaRPr lang="en-US" sz="2400" dirty="0">
                <a:latin typeface="Monaco" pitchFamily="2" charset="77"/>
              </a:endParaRPr>
            </a:p>
            <a:p>
              <a:pPr marL="0" indent="0">
                <a:buNone/>
              </a:pPr>
              <a:r>
                <a:rPr lang="en-US" sz="2400" dirty="0">
                  <a:latin typeface="Monaco" pitchFamily="2" charset="77"/>
                </a:rPr>
                <a:t>	</a:t>
              </a:r>
            </a:p>
          </p:txBody>
        </p:sp>
      </p:grpSp>
      <p:sp>
        <p:nvSpPr>
          <p:cNvPr id="14" name="TextBox 13">
            <a:extLst>
              <a:ext uri="{FF2B5EF4-FFF2-40B4-BE49-F238E27FC236}">
                <a16:creationId xmlns:a16="http://schemas.microsoft.com/office/drawing/2014/main" id="{CD955B9B-6CC5-F314-CD1E-DCBE4964AC98}"/>
              </a:ext>
            </a:extLst>
          </p:cNvPr>
          <p:cNvSpPr txBox="1"/>
          <p:nvPr/>
        </p:nvSpPr>
        <p:spPr>
          <a:xfrm>
            <a:off x="904407" y="5729914"/>
            <a:ext cx="10800846" cy="523220"/>
          </a:xfrm>
          <a:prstGeom prst="rect">
            <a:avLst/>
          </a:prstGeom>
          <a:noFill/>
        </p:spPr>
        <p:txBody>
          <a:bodyPr wrap="square">
            <a:spAutoFit/>
          </a:bodyPr>
          <a:lstStyle/>
          <a:p>
            <a:pPr marL="0" indent="0">
              <a:buFont typeface="Arial" panose="020B0604020202020204" pitchFamily="34" charset="0"/>
              <a:buNone/>
            </a:pPr>
            <a:r>
              <a:rPr lang="en-US" sz="2800" dirty="0">
                <a:solidFill>
                  <a:srgbClr val="FF0000"/>
                </a:solidFill>
                <a:latin typeface="Helvetica Neue" panose="02000503000000020004"/>
              </a:rPr>
              <a:t>Warning: --no-cache-</a:t>
            </a:r>
            <a:r>
              <a:rPr lang="en-US" sz="2800" dirty="0" err="1">
                <a:solidFill>
                  <a:srgbClr val="FF0000"/>
                </a:solidFill>
                <a:latin typeface="Helvetica Neue" panose="02000503000000020004"/>
              </a:rPr>
              <a:t>dir</a:t>
            </a:r>
            <a:r>
              <a:rPr lang="en-US" sz="2800" dirty="0">
                <a:solidFill>
                  <a:srgbClr val="FF0000"/>
                </a:solidFill>
                <a:latin typeface="Helvetica Neue" panose="02000503000000020004"/>
              </a:rPr>
              <a:t> is crucial on CURC systems!</a:t>
            </a:r>
          </a:p>
        </p:txBody>
      </p:sp>
      <p:grpSp>
        <p:nvGrpSpPr>
          <p:cNvPr id="13" name="Group 12">
            <a:extLst>
              <a:ext uri="{FF2B5EF4-FFF2-40B4-BE49-F238E27FC236}">
                <a16:creationId xmlns:a16="http://schemas.microsoft.com/office/drawing/2014/main" id="{D27280ED-E86A-6435-8840-DA8EADFB3AF7}"/>
              </a:ext>
            </a:extLst>
          </p:cNvPr>
          <p:cNvGrpSpPr/>
          <p:nvPr/>
        </p:nvGrpSpPr>
        <p:grpSpPr>
          <a:xfrm>
            <a:off x="7062437" y="178987"/>
            <a:ext cx="4575568" cy="1259754"/>
            <a:chOff x="7062437" y="178987"/>
            <a:chExt cx="4575568" cy="1259754"/>
          </a:xfrm>
        </p:grpSpPr>
        <p:pic>
          <p:nvPicPr>
            <p:cNvPr id="15" name="Picture 14" descr="Conda package/environment manager logo">
              <a:extLst>
                <a:ext uri="{FF2B5EF4-FFF2-40B4-BE49-F238E27FC236}">
                  <a16:creationId xmlns:a16="http://schemas.microsoft.com/office/drawing/2014/main" id="{3FDA45BC-6334-E4C8-9F77-34377D675647}"/>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16" name="Picture 15">
              <a:extLst>
                <a:ext uri="{FF2B5EF4-FFF2-40B4-BE49-F238E27FC236}">
                  <a16:creationId xmlns:a16="http://schemas.microsoft.com/office/drawing/2014/main" id="{BDC53FBA-5D73-2389-2110-B5D758DA35CF}"/>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1099602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717880"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735756" y="1945301"/>
            <a:ext cx="10897822" cy="662781"/>
          </a:xfrm>
        </p:spPr>
        <p:txBody>
          <a:bodyPr>
            <a:normAutofit/>
          </a:bodyPr>
          <a:lstStyle/>
          <a:p>
            <a:pPr marL="0" indent="0">
              <a:buNone/>
            </a:pPr>
            <a:r>
              <a:rPr lang="en-US" dirty="0">
                <a:latin typeface="Helvetica Neue" panose="02000503000000020004"/>
              </a:rPr>
              <a:t>Some useful commands (“mamba” can be replaced with “</a:t>
            </a:r>
            <a:r>
              <a:rPr lang="en-US" dirty="0" err="1">
                <a:latin typeface="Helvetica Neue" panose="02000503000000020004"/>
              </a:rPr>
              <a:t>conda</a:t>
            </a:r>
            <a:r>
              <a:rPr lang="en-US" dirty="0">
                <a:latin typeface="Helvetica Neue" panose="02000503000000020004"/>
              </a:rPr>
              <a:t>”)</a:t>
            </a:r>
          </a:p>
        </p:txBody>
      </p:sp>
      <p:grpSp>
        <p:nvGrpSpPr>
          <p:cNvPr id="9" name="Group 8">
            <a:extLst>
              <a:ext uri="{FF2B5EF4-FFF2-40B4-BE49-F238E27FC236}">
                <a16:creationId xmlns:a16="http://schemas.microsoft.com/office/drawing/2014/main" id="{135E1F56-FFCD-E6DF-3643-74051A07CC50}"/>
              </a:ext>
            </a:extLst>
          </p:cNvPr>
          <p:cNvGrpSpPr/>
          <p:nvPr/>
        </p:nvGrpSpPr>
        <p:grpSpPr>
          <a:xfrm>
            <a:off x="717880" y="2491989"/>
            <a:ext cx="11052246" cy="3523202"/>
            <a:chOff x="569877" y="3824816"/>
            <a:chExt cx="11052246" cy="1313995"/>
          </a:xfrm>
        </p:grpSpPr>
        <p:sp>
          <p:nvSpPr>
            <p:cNvPr id="6" name="Rectangle 5">
              <a:extLst>
                <a:ext uri="{FF2B5EF4-FFF2-40B4-BE49-F238E27FC236}">
                  <a16:creationId xmlns:a16="http://schemas.microsoft.com/office/drawing/2014/main" id="{A80729F3-D412-FC2D-BD21-74C655745520}"/>
                </a:ext>
              </a:extLst>
            </p:cNvPr>
            <p:cNvSpPr/>
            <p:nvPr/>
          </p:nvSpPr>
          <p:spPr>
            <a:xfrm>
              <a:off x="569877" y="3911411"/>
              <a:ext cx="11052246" cy="122740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719528" y="3824816"/>
              <a:ext cx="10634272" cy="13139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env list				# list all environments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list					# list packages in active env</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env remove -n &lt;</a:t>
              </a:r>
              <a:r>
                <a:rPr lang="en-US" sz="2000" b="1" dirty="0" err="1">
                  <a:latin typeface="Courier New" panose="02070309020205020404" pitchFamily="49" charset="0"/>
                  <a:cs typeface="Courier New" panose="02070309020205020404" pitchFamily="49" charset="0"/>
                </a:rPr>
                <a:t>envname</a:t>
              </a:r>
              <a:r>
                <a:rPr lang="en-US" sz="2000" b="1" dirty="0">
                  <a:latin typeface="Courier New" panose="02070309020205020404" pitchFamily="49" charset="0"/>
                  <a:cs typeface="Courier New" panose="02070309020205020404" pitchFamily="49" charset="0"/>
                </a:rPr>
                <a:t>&gt;		# remove an environment</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config --show channels		# view configured channels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deactivate 				# deactivate environment</a:t>
              </a:r>
            </a:p>
            <a:p>
              <a:pPr marL="0" indent="0">
                <a:lnSpc>
                  <a:spcPct val="100000"/>
                </a:lnSpc>
                <a:buNone/>
              </a:pPr>
              <a:r>
                <a:rPr lang="en-US" sz="2000" b="1" dirty="0">
                  <a:latin typeface="Courier New" panose="02070309020205020404" pitchFamily="49" charset="0"/>
                  <a:cs typeface="Courier New" panose="02070309020205020404" pitchFamily="49" charset="0"/>
                </a:rPr>
                <a:t>mamba create --name &lt;</a:t>
              </a:r>
              <a:r>
                <a:rPr lang="en-US" sz="2000" b="1" dirty="0" err="1">
                  <a:latin typeface="Courier New" panose="02070309020205020404" pitchFamily="49" charset="0"/>
                  <a:cs typeface="Courier New" panose="02070309020205020404" pitchFamily="49" charset="0"/>
                </a:rPr>
                <a:t>clonedenv</a:t>
              </a:r>
              <a:r>
                <a:rPr lang="en-US" sz="2000" b="1" dirty="0">
                  <a:latin typeface="Courier New" panose="02070309020205020404" pitchFamily="49" charset="0"/>
                  <a:cs typeface="Courier New" panose="02070309020205020404" pitchFamily="49" charset="0"/>
                </a:rPr>
                <a:t>&gt; /	# clone an environment</a:t>
              </a:r>
            </a:p>
            <a:p>
              <a:pPr marL="0" indent="0">
                <a:lnSpc>
                  <a:spcPct val="100000"/>
                </a:lnSpc>
                <a:buNone/>
              </a:pPr>
              <a:r>
                <a:rPr lang="en-US" sz="2000" b="1" dirty="0">
                  <a:latin typeface="Courier New" panose="02070309020205020404" pitchFamily="49" charset="0"/>
                  <a:cs typeface="Courier New" panose="02070309020205020404" pitchFamily="49" charset="0"/>
                </a:rPr>
                <a:t>	--clone &lt;</a:t>
              </a:r>
              <a:r>
                <a:rPr lang="en-US" sz="2000" b="1" dirty="0" err="1">
                  <a:latin typeface="Courier New" panose="02070309020205020404" pitchFamily="49" charset="0"/>
                  <a:cs typeface="Courier New" panose="02070309020205020404" pitchFamily="49" charset="0"/>
                </a:rPr>
                <a:t>envtoclone</a:t>
              </a:r>
              <a:r>
                <a:rPr lang="en-US" sz="2000" b="1" dirty="0">
                  <a:latin typeface="Courier New" panose="02070309020205020404" pitchFamily="49" charset="0"/>
                  <a:cs typeface="Courier New" panose="02070309020205020404" pitchFamily="49" charset="0"/>
                </a:rPr>
                <a:t>&gt;  </a:t>
              </a:r>
              <a:r>
                <a:rPr lang="en-US" sz="2000" dirty="0">
                  <a:latin typeface="Courier New" panose="02070309020205020404" pitchFamily="49" charset="0"/>
                  <a:cs typeface="Courier New" panose="02070309020205020404" pitchFamily="49" charset="0"/>
                </a:rPr>
                <a:t>	</a:t>
              </a:r>
            </a:p>
          </p:txBody>
        </p:sp>
      </p:grpSp>
      <p:sp>
        <p:nvSpPr>
          <p:cNvPr id="5" name="Slide Number Placeholder 4">
            <a:extLst>
              <a:ext uri="{FF2B5EF4-FFF2-40B4-BE49-F238E27FC236}">
                <a16:creationId xmlns:a16="http://schemas.microsoft.com/office/drawing/2014/main" id="{FA59FF00-50B4-54BD-8A8E-86EC9CF94C09}"/>
              </a:ext>
            </a:extLst>
          </p:cNvPr>
          <p:cNvSpPr>
            <a:spLocks noGrp="1"/>
          </p:cNvSpPr>
          <p:nvPr>
            <p:ph type="sldNum" sz="quarter" idx="12"/>
          </p:nvPr>
        </p:nvSpPr>
        <p:spPr/>
        <p:txBody>
          <a:bodyPr/>
          <a:lstStyle/>
          <a:p>
            <a:fld id="{ABDA560F-461C-6043-9BC4-489BA92F7161}" type="slidenum">
              <a:rPr lang="en-US" smtClean="0"/>
              <a:t>13</a:t>
            </a:fld>
            <a:endParaRPr lang="en-US"/>
          </a:p>
        </p:txBody>
      </p:sp>
      <p:grpSp>
        <p:nvGrpSpPr>
          <p:cNvPr id="4" name="Group 3">
            <a:extLst>
              <a:ext uri="{FF2B5EF4-FFF2-40B4-BE49-F238E27FC236}">
                <a16:creationId xmlns:a16="http://schemas.microsoft.com/office/drawing/2014/main" id="{E0EB6285-E815-6054-273A-CDD860E5014E}"/>
              </a:ext>
            </a:extLst>
          </p:cNvPr>
          <p:cNvGrpSpPr/>
          <p:nvPr/>
        </p:nvGrpSpPr>
        <p:grpSpPr>
          <a:xfrm>
            <a:off x="7194558" y="168804"/>
            <a:ext cx="4575568" cy="1259754"/>
            <a:chOff x="7062437" y="178987"/>
            <a:chExt cx="4575568" cy="1259754"/>
          </a:xfrm>
        </p:grpSpPr>
        <p:pic>
          <p:nvPicPr>
            <p:cNvPr id="10" name="Picture 9" descr="Conda package/environment manager logo">
              <a:extLst>
                <a:ext uri="{FF2B5EF4-FFF2-40B4-BE49-F238E27FC236}">
                  <a16:creationId xmlns:a16="http://schemas.microsoft.com/office/drawing/2014/main" id="{FE65DC94-0113-B8A7-2C9F-A751E7112F03}"/>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1" name="Picture 10">
              <a:extLst>
                <a:ext uri="{FF2B5EF4-FFF2-40B4-BE49-F238E27FC236}">
                  <a16:creationId xmlns:a16="http://schemas.microsoft.com/office/drawing/2014/main" id="{1291D7F8-631B-36D1-4A20-37F77522E99D}"/>
                </a:ext>
              </a:extLst>
            </p:cNvPr>
            <p:cNvPicPr>
              <a:picLocks noChangeAspect="1"/>
            </p:cNvPicPr>
            <p:nvPr/>
          </p:nvPicPr>
          <p:blipFill>
            <a:blip r:embed="rId4"/>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135292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Want to go the extra mile? </a:t>
            </a:r>
          </a:p>
        </p:txBody>
      </p:sp>
      <p:sp>
        <p:nvSpPr>
          <p:cNvPr id="22" name="TextBox 21">
            <a:extLst>
              <a:ext uri="{FF2B5EF4-FFF2-40B4-BE49-F238E27FC236}">
                <a16:creationId xmlns:a16="http://schemas.microsoft.com/office/drawing/2014/main" id="{CDAE866F-9A4C-BC78-08C5-4310C2B3246B}"/>
              </a:ext>
            </a:extLst>
          </p:cNvPr>
          <p:cNvSpPr txBox="1"/>
          <p:nvPr/>
        </p:nvSpPr>
        <p:spPr>
          <a:xfrm>
            <a:off x="569877" y="1690686"/>
            <a:ext cx="11052246" cy="4401205"/>
          </a:xfrm>
          <a:prstGeom prst="rect">
            <a:avLst/>
          </a:prstGeom>
          <a:noFill/>
        </p:spPr>
        <p:txBody>
          <a:bodyPr wrap="square" lIns="91440" tIns="45720" rIns="91440" bIns="45720" rtlCol="0" anchor="ctr">
            <a:spAutoFit/>
          </a:bodyPr>
          <a:lstStyle/>
          <a:p>
            <a:r>
              <a:rPr lang="en-US" sz="2800" dirty="0">
                <a:latin typeface="Helvetica Neue" panose="02000503000000020004"/>
              </a:rPr>
              <a:t>Try our Hands-on exercise provided in EXERCISES.md. </a:t>
            </a:r>
            <a:r>
              <a:rPr lang="en-US" sz="2800" u="sng" dirty="0">
                <a:latin typeface="Helvetica Neue" panose="02000503000000020004"/>
              </a:rPr>
              <a:t>This is not required for the micro-credential. </a:t>
            </a:r>
          </a:p>
          <a:p>
            <a:endParaRPr lang="en-US" sz="2800" dirty="0">
              <a:latin typeface="Helvetica Neue" panose="02000503000000020004"/>
            </a:endParaRPr>
          </a:p>
          <a:p>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Create a mamba environment and install </a:t>
            </a:r>
            <a:r>
              <a:rPr lang="en-US" sz="2800" dirty="0" err="1">
                <a:latin typeface="Helvetica Neue" panose="02000503000000020004"/>
              </a:rPr>
              <a:t>samtools</a:t>
            </a:r>
            <a:endParaRPr lang="en-US" sz="2800" dirty="0">
              <a:latin typeface="Helvetica Neue" panose="02000503000000020004"/>
            </a:endParaRPr>
          </a:p>
          <a:p>
            <a:pPr marL="514350" indent="-514350">
              <a:buFont typeface="+mj-lt"/>
              <a:buAutoNum type="arabicPeriod"/>
            </a:pPr>
            <a:r>
              <a:rPr lang="en-US" sz="2800" dirty="0">
                <a:latin typeface="Helvetica Neue" panose="02000503000000020004"/>
              </a:rPr>
              <a:t>Activate the environment and run </a:t>
            </a:r>
            <a:r>
              <a:rPr lang="en-US" sz="2800" dirty="0" err="1">
                <a:latin typeface="Helvetica Neue" panose="02000503000000020004"/>
              </a:rPr>
              <a:t>samtools</a:t>
            </a:r>
            <a:r>
              <a:rPr lang="en-US" sz="2800" dirty="0">
                <a:latin typeface="Helvetica Neue" panose="02000503000000020004"/>
              </a:rPr>
              <a:t>.</a:t>
            </a:r>
          </a:p>
          <a:p>
            <a:endParaRPr lang="en-US" sz="2800" dirty="0">
              <a:latin typeface="Helvetica Neue" panose="02000503000000020004"/>
            </a:endParaRPr>
          </a:p>
          <a:p>
            <a:r>
              <a:rPr lang="en-US" sz="2800" b="1" dirty="0">
                <a:latin typeface="Helvetica Neue" panose="02000503000000020004"/>
              </a:rPr>
              <a:t>Estimated time to complete</a:t>
            </a:r>
            <a:r>
              <a:rPr lang="en-US" sz="2800" dirty="0">
                <a:latin typeface="Helvetica Neue" panose="02000503000000020004"/>
              </a:rPr>
              <a:t>: 15 minutes</a:t>
            </a:r>
          </a:p>
          <a:p>
            <a:r>
              <a:rPr lang="en-US" sz="2800" b="1" dirty="0">
                <a:latin typeface="Helvetica Neue" panose="02000503000000020004"/>
              </a:rPr>
              <a:t>Documentation: </a:t>
            </a:r>
            <a:r>
              <a:rPr lang="en-US" sz="2800" b="1" dirty="0">
                <a:latin typeface="Helvetica Neue" panose="02000503000000020004"/>
                <a:hlinkClick r:id="rId2"/>
              </a:rPr>
              <a:t>https://curc.readthedocs.io/en/latest/software/python.html</a:t>
            </a:r>
            <a:r>
              <a:rPr lang="en-US" sz="2800" b="1" dirty="0">
                <a:latin typeface="Helvetica Neue" panose="02000503000000020004"/>
              </a:rPr>
              <a:t> </a:t>
            </a:r>
          </a:p>
        </p:txBody>
      </p:sp>
      <p:sp>
        <p:nvSpPr>
          <p:cNvPr id="5" name="Slide Number Placeholder 4">
            <a:extLst>
              <a:ext uri="{FF2B5EF4-FFF2-40B4-BE49-F238E27FC236}">
                <a16:creationId xmlns:a16="http://schemas.microsoft.com/office/drawing/2014/main" id="{AAA16CEC-C996-3AC8-27EA-AA728C32AD71}"/>
              </a:ext>
            </a:extLst>
          </p:cNvPr>
          <p:cNvSpPr>
            <a:spLocks noGrp="1"/>
          </p:cNvSpPr>
          <p:nvPr>
            <p:ph type="sldNum" sz="quarter" idx="12"/>
          </p:nvPr>
        </p:nvSpPr>
        <p:spPr/>
        <p:txBody>
          <a:bodyPr/>
          <a:lstStyle/>
          <a:p>
            <a:fld id="{ABDA560F-461C-6043-9BC4-489BA92F7161}" type="slidenum">
              <a:rPr lang="en-US" smtClean="0"/>
              <a:t>14</a:t>
            </a:fld>
            <a:endParaRPr lang="en-US"/>
          </a:p>
        </p:txBody>
      </p:sp>
    </p:spTree>
    <p:extLst>
      <p:ext uri="{BB962C8B-B14F-4D97-AF65-F5344CB8AC3E}">
        <p14:creationId xmlns:p14="http://schemas.microsoft.com/office/powerpoint/2010/main" val="557816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A5C00-123E-2CD0-AD48-005F02DD9C54}"/>
              </a:ext>
            </a:extLst>
          </p:cNvPr>
          <p:cNvSpPr>
            <a:spLocks noGrp="1"/>
          </p:cNvSpPr>
          <p:nvPr>
            <p:ph type="title"/>
          </p:nvPr>
        </p:nvSpPr>
        <p:spPr/>
        <p:txBody>
          <a:bodyPr>
            <a:normAutofit/>
          </a:bodyPr>
          <a:lstStyle/>
          <a:p>
            <a:r>
              <a:rPr lang="en-US" b="1" dirty="0"/>
              <a:t>Requesting Software Installations</a:t>
            </a:r>
          </a:p>
        </p:txBody>
      </p:sp>
      <p:sp>
        <p:nvSpPr>
          <p:cNvPr id="3" name="Content Placeholder 2">
            <a:extLst>
              <a:ext uri="{FF2B5EF4-FFF2-40B4-BE49-F238E27FC236}">
                <a16:creationId xmlns:a16="http://schemas.microsoft.com/office/drawing/2014/main" id="{5433201F-B470-4FB6-3E2A-B4F0D1B28558}"/>
              </a:ext>
            </a:extLst>
          </p:cNvPr>
          <p:cNvSpPr>
            <a:spLocks noGrp="1"/>
          </p:cNvSpPr>
          <p:nvPr>
            <p:ph idx="1"/>
          </p:nvPr>
        </p:nvSpPr>
        <p:spPr>
          <a:xfrm>
            <a:off x="838200" y="1690688"/>
            <a:ext cx="10982093" cy="4351338"/>
          </a:xfrm>
        </p:spPr>
        <p:txBody>
          <a:bodyPr>
            <a:normAutofit/>
          </a:bodyPr>
          <a:lstStyle/>
          <a:p>
            <a:r>
              <a:rPr lang="en-US" dirty="0">
                <a:latin typeface="Helvetica Neue" panose="02000503000000020004"/>
              </a:rPr>
              <a:t>Is the software already installed on the cluster?</a:t>
            </a:r>
          </a:p>
          <a:p>
            <a:pPr marL="0" indent="0">
              <a:buNone/>
            </a:pPr>
            <a:r>
              <a:rPr lang="en-US" dirty="0">
                <a:latin typeface="Helvetica Neue" panose="02000503000000020004"/>
                <a:hlinkClick r:id="rId2"/>
              </a:rPr>
              <a:t>https://curc.readthedocs.io/en/latest/software/curc_provided_software.html</a:t>
            </a:r>
            <a:r>
              <a:rPr lang="en-US" dirty="0">
                <a:latin typeface="Helvetica Neue" panose="02000503000000020004"/>
              </a:rPr>
              <a:t>  </a:t>
            </a:r>
          </a:p>
          <a:p>
            <a:r>
              <a:rPr lang="en-US" dirty="0">
                <a:latin typeface="Helvetica Neue" panose="02000503000000020004"/>
              </a:rPr>
              <a:t>Have you considered its utility and complexity?</a:t>
            </a:r>
          </a:p>
          <a:p>
            <a:pPr lvl="1"/>
            <a:r>
              <a:rPr lang="en-US" sz="2800" dirty="0">
                <a:latin typeface="Helvetica Neue" panose="02000503000000020004"/>
              </a:rPr>
              <a:t>Are you the only user of this software?</a:t>
            </a:r>
          </a:p>
          <a:p>
            <a:pPr lvl="1"/>
            <a:r>
              <a:rPr lang="en-US" sz="2800" dirty="0">
                <a:latin typeface="Helvetica Neue" panose="02000503000000020004"/>
              </a:rPr>
              <a:t>How complex or difficult is this software to install?</a:t>
            </a:r>
          </a:p>
          <a:p>
            <a:r>
              <a:rPr lang="en-US" dirty="0">
                <a:latin typeface="Helvetica Neue" panose="02000503000000020004"/>
              </a:rPr>
              <a:t>Have you tried installing the package on your own?</a:t>
            </a:r>
          </a:p>
          <a:p>
            <a:r>
              <a:rPr lang="en-US" dirty="0">
                <a:latin typeface="Helvetica Neue" panose="02000503000000020004"/>
              </a:rPr>
              <a:t>For help installing software, submit a support request form:</a:t>
            </a:r>
          </a:p>
          <a:p>
            <a:pPr marL="0" indent="0">
              <a:buNone/>
            </a:pPr>
            <a:r>
              <a:rPr lang="en-US" dirty="0">
                <a:latin typeface="Helvetica Neue" panose="02000503000000020004"/>
                <a:hlinkClick r:id="rId3"/>
              </a:rPr>
              <a:t>https://colorado.service-now.com/req_portal?id=ucb_sc_rc_form</a:t>
            </a:r>
            <a:r>
              <a:rPr lang="en-US" dirty="0">
                <a:latin typeface="Helvetica Neue" panose="02000503000000020004"/>
              </a:rPr>
              <a:t> </a:t>
            </a:r>
          </a:p>
        </p:txBody>
      </p:sp>
      <p:sp>
        <p:nvSpPr>
          <p:cNvPr id="5" name="Slide Number Placeholder 4">
            <a:extLst>
              <a:ext uri="{FF2B5EF4-FFF2-40B4-BE49-F238E27FC236}">
                <a16:creationId xmlns:a16="http://schemas.microsoft.com/office/drawing/2014/main" id="{D55C5EE3-E41F-D5F6-9DAD-2F625B87FAF2}"/>
              </a:ext>
            </a:extLst>
          </p:cNvPr>
          <p:cNvSpPr>
            <a:spLocks noGrp="1"/>
          </p:cNvSpPr>
          <p:nvPr>
            <p:ph type="sldNum" sz="quarter" idx="12"/>
          </p:nvPr>
        </p:nvSpPr>
        <p:spPr/>
        <p:txBody>
          <a:bodyPr/>
          <a:lstStyle/>
          <a:p>
            <a:fld id="{ABDA560F-461C-6043-9BC4-489BA92F7161}" type="slidenum">
              <a:rPr lang="en-US" smtClean="0"/>
              <a:t>15</a:t>
            </a:fld>
            <a:endParaRPr lang="en-US"/>
          </a:p>
        </p:txBody>
      </p:sp>
    </p:spTree>
    <p:extLst>
      <p:ext uri="{BB962C8B-B14F-4D97-AF65-F5344CB8AC3E}">
        <p14:creationId xmlns:p14="http://schemas.microsoft.com/office/powerpoint/2010/main" val="4077558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51C3-DBCC-3681-52E0-89B13D27B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F517A-AE93-9B24-FAB1-70CD8BBA2722}"/>
              </a:ext>
            </a:extLst>
          </p:cNvPr>
          <p:cNvSpPr>
            <a:spLocks noGrp="1"/>
          </p:cNvSpPr>
          <p:nvPr>
            <p:ph type="title"/>
          </p:nvPr>
        </p:nvSpPr>
        <p:spPr>
          <a:xfrm>
            <a:off x="3015916" y="1562016"/>
            <a:ext cx="6585284" cy="2264026"/>
          </a:xfrm>
        </p:spPr>
        <p:txBody>
          <a:bodyPr>
            <a:normAutofit/>
          </a:bodyPr>
          <a:lstStyle/>
          <a:p>
            <a:r>
              <a:rPr lang="en-US" sz="5400" b="1" dirty="0"/>
              <a:t>Advanced Topics</a:t>
            </a:r>
          </a:p>
        </p:txBody>
      </p:sp>
      <p:sp>
        <p:nvSpPr>
          <p:cNvPr id="5" name="Slide Number Placeholder 4">
            <a:extLst>
              <a:ext uri="{FF2B5EF4-FFF2-40B4-BE49-F238E27FC236}">
                <a16:creationId xmlns:a16="http://schemas.microsoft.com/office/drawing/2014/main" id="{D5522565-FFD8-0B05-8663-E411CA9103A8}"/>
              </a:ext>
            </a:extLst>
          </p:cNvPr>
          <p:cNvSpPr>
            <a:spLocks noGrp="1"/>
          </p:cNvSpPr>
          <p:nvPr>
            <p:ph type="sldNum" sz="quarter" idx="12"/>
          </p:nvPr>
        </p:nvSpPr>
        <p:spPr/>
        <p:txBody>
          <a:bodyPr/>
          <a:lstStyle/>
          <a:p>
            <a:fld id="{ABDA560F-461C-6043-9BC4-489BA92F7161}" type="slidenum">
              <a:rPr lang="en-US" smtClean="0"/>
              <a:t>16</a:t>
            </a:fld>
            <a:endParaRPr lang="en-US"/>
          </a:p>
        </p:txBody>
      </p:sp>
    </p:spTree>
    <p:extLst>
      <p:ext uri="{BB962C8B-B14F-4D97-AF65-F5344CB8AC3E}">
        <p14:creationId xmlns:p14="http://schemas.microsoft.com/office/powerpoint/2010/main" val="2533610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54992" y="359850"/>
            <a:ext cx="10515600" cy="1325563"/>
          </a:xfrm>
        </p:spPr>
        <p:txBody>
          <a:bodyPr/>
          <a:lstStyle/>
          <a:p>
            <a:r>
              <a:rPr lang="en-US" b="1" dirty="0"/>
              <a:t>Simplifying Installations with </a:t>
            </a:r>
            <a:r>
              <a:rPr lang="en-US" b="1" dirty="0">
                <a:solidFill>
                  <a:schemeClr val="bg1"/>
                </a:solidFill>
                <a:latin typeface="Century Gothic"/>
              </a:rPr>
              <a:t>Spack</a:t>
            </a:r>
          </a:p>
        </p:txBody>
      </p:sp>
      <p:pic>
        <p:nvPicPr>
          <p:cNvPr id="5" name="Picture 4" descr="Spack package manager logo">
            <a:extLst>
              <a:ext uri="{FF2B5EF4-FFF2-40B4-BE49-F238E27FC236}">
                <a16:creationId xmlns:a16="http://schemas.microsoft.com/office/drawing/2014/main" id="{AC23465F-3B47-1D27-B6EB-C1C0DD8D506D}"/>
              </a:ext>
            </a:extLst>
          </p:cNvPr>
          <p:cNvPicPr>
            <a:picLocks noChangeAspect="1"/>
          </p:cNvPicPr>
          <p:nvPr/>
        </p:nvPicPr>
        <p:blipFill>
          <a:blip r:embed="rId3"/>
          <a:stretch>
            <a:fillRect/>
          </a:stretch>
        </p:blipFill>
        <p:spPr>
          <a:xfrm>
            <a:off x="8212066" y="359850"/>
            <a:ext cx="3624942" cy="1043901"/>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2311400"/>
            <a:ext cx="10515600" cy="3489325"/>
          </a:xfrm>
        </p:spPr>
        <p:txBody>
          <a:bodyPr vert="horz" lIns="91440" tIns="45720" rIns="91440" bIns="45720" rtlCol="0" anchor="t">
            <a:normAutofit/>
          </a:bodyPr>
          <a:lstStyle/>
          <a:p>
            <a:pPr marL="0" indent="0">
              <a:buNone/>
            </a:pPr>
            <a:r>
              <a:rPr lang="en-US" dirty="0">
                <a:latin typeface="Helvetica Neue" panose="02000503000000020004"/>
              </a:rPr>
              <a:t>How can we simplify source installations? </a:t>
            </a:r>
          </a:p>
          <a:p>
            <a:r>
              <a:rPr lang="en-US" sz="2800" b="1" dirty="0">
                <a:latin typeface="Helvetica Neue" panose="02000503000000020004"/>
              </a:rPr>
              <a:t>Package Managers </a:t>
            </a:r>
            <a:r>
              <a:rPr lang="en-US" sz="2800" dirty="0">
                <a:latin typeface="Helvetica Neue" panose="02000503000000020004"/>
              </a:rPr>
              <a:t>– Tools that automate installing, maintaining, and configuring software and any dependencies</a:t>
            </a:r>
          </a:p>
          <a:p>
            <a:r>
              <a:rPr lang="en-US" sz="2800" b="1" dirty="0">
                <a:latin typeface="Helvetica Neue" panose="02000503000000020004"/>
              </a:rPr>
              <a:t>Environments</a:t>
            </a:r>
            <a:r>
              <a:rPr lang="en-US" sz="2800" dirty="0">
                <a:latin typeface="Helvetica Neue" panose="02000503000000020004"/>
              </a:rPr>
              <a:t> – A collection of resources that are available in a self-contained 'bubble'</a:t>
            </a:r>
          </a:p>
          <a:p>
            <a:pPr lvl="1"/>
            <a:endParaRPr lang="en-US" sz="2800" dirty="0">
              <a:latin typeface="Helvetica Neue" panose="02000503000000020004"/>
            </a:endParaRPr>
          </a:p>
          <a:p>
            <a:pPr lvl="1"/>
            <a:endParaRPr lang="en-US" sz="2800" dirty="0">
              <a:latin typeface="Helvetica Neue" panose="02000503000000020004"/>
            </a:endParaRPr>
          </a:p>
          <a:p>
            <a:pPr marL="457200" lvl="1" indent="0">
              <a:buNone/>
            </a:pPr>
            <a:endParaRPr lang="en-US" sz="2800" b="1" dirty="0">
              <a:latin typeface="Helvetica Neue" panose="02000503000000020004"/>
            </a:endParaRPr>
          </a:p>
        </p:txBody>
      </p:sp>
      <p:sp>
        <p:nvSpPr>
          <p:cNvPr id="7" name="Slide Number Placeholder 6">
            <a:extLst>
              <a:ext uri="{FF2B5EF4-FFF2-40B4-BE49-F238E27FC236}">
                <a16:creationId xmlns:a16="http://schemas.microsoft.com/office/drawing/2014/main" id="{379928A1-2691-E604-8B78-870FE7DE018E}"/>
              </a:ext>
            </a:extLst>
          </p:cNvPr>
          <p:cNvSpPr>
            <a:spLocks noGrp="1"/>
          </p:cNvSpPr>
          <p:nvPr>
            <p:ph type="sldNum" sz="quarter" idx="12"/>
          </p:nvPr>
        </p:nvSpPr>
        <p:spPr/>
        <p:txBody>
          <a:bodyPr/>
          <a:lstStyle/>
          <a:p>
            <a:fld id="{ABDA560F-461C-6043-9BC4-489BA92F7161}" type="slidenum">
              <a:rPr lang="en-US" smtClean="0"/>
              <a:t>17</a:t>
            </a:fld>
            <a:endParaRPr lang="en-US"/>
          </a:p>
        </p:txBody>
      </p:sp>
    </p:spTree>
    <p:extLst>
      <p:ext uri="{BB962C8B-B14F-4D97-AF65-F5344CB8AC3E}">
        <p14:creationId xmlns:p14="http://schemas.microsoft.com/office/powerpoint/2010/main" val="35881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98294" y="360473"/>
            <a:ext cx="10994833" cy="1340803"/>
          </a:xfrm>
        </p:spPr>
        <p:txBody>
          <a:bodyPr/>
          <a:lstStyle/>
          <a:p>
            <a:r>
              <a:rPr lang="en-US" b="1" dirty="0"/>
              <a:t>Simplifying Installations with </a:t>
            </a:r>
            <a:r>
              <a:rPr lang="en-US" b="1" dirty="0">
                <a:solidFill>
                  <a:schemeClr val="bg1"/>
                </a:solidFill>
                <a:latin typeface="Century Gothic"/>
              </a:rPr>
              <a:t>Spack</a:t>
            </a:r>
            <a:r>
              <a:rPr lang="en-US" b="1" dirty="0">
                <a:latin typeface="Century Gothic"/>
              </a:rPr>
              <a:t> </a:t>
            </a:r>
            <a:endParaRPr lang="en-US" dirty="0"/>
          </a:p>
        </p:txBody>
      </p:sp>
      <p:pic>
        <p:nvPicPr>
          <p:cNvPr id="12" name="Picture 11" descr="Spack package manager logo">
            <a:extLst>
              <a:ext uri="{FF2B5EF4-FFF2-40B4-BE49-F238E27FC236}">
                <a16:creationId xmlns:a16="http://schemas.microsoft.com/office/drawing/2014/main" id="{67B42571-94E1-B91D-5E5D-15899CECD221}"/>
              </a:ext>
            </a:extLst>
          </p:cNvPr>
          <p:cNvPicPr>
            <a:picLocks noChangeAspect="1"/>
          </p:cNvPicPr>
          <p:nvPr/>
        </p:nvPicPr>
        <p:blipFill>
          <a:blip r:embed="rId3"/>
          <a:stretch>
            <a:fillRect/>
          </a:stretch>
        </p:blipFill>
        <p:spPr>
          <a:xfrm>
            <a:off x="8168764" y="498439"/>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Environments are created and programs are installed in a few simple steps</a:t>
            </a:r>
          </a:p>
          <a:p>
            <a:pPr marL="0" indent="0">
              <a:buNone/>
            </a:pPr>
            <a:endParaRPr lang="en-US" dirty="0">
              <a:latin typeface="Helvetica Neue" panose="02000503000000020004"/>
            </a:endParaRPr>
          </a:p>
        </p:txBody>
      </p:sp>
      <p:grpSp>
        <p:nvGrpSpPr>
          <p:cNvPr id="10" name="Group 9">
            <a:extLst>
              <a:ext uri="{FF2B5EF4-FFF2-40B4-BE49-F238E27FC236}">
                <a16:creationId xmlns:a16="http://schemas.microsoft.com/office/drawing/2014/main" id="{FE5F2C54-B08F-1419-E1F2-4B8194B228D7}"/>
              </a:ext>
            </a:extLst>
          </p:cNvPr>
          <p:cNvGrpSpPr/>
          <p:nvPr/>
        </p:nvGrpSpPr>
        <p:grpSpPr>
          <a:xfrm>
            <a:off x="686086" y="2585007"/>
            <a:ext cx="10895086" cy="2266101"/>
            <a:chOff x="648457" y="2905506"/>
            <a:chExt cx="10895086" cy="2266101"/>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914354"/>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aco"/>
              </a:endParaRPr>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89941" y="2905506"/>
              <a:ext cx="10515600" cy="2180089"/>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Monaco"/>
              </a:endParaRP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module purge</a:t>
              </a: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module load </a:t>
              </a:r>
              <a:r>
                <a:rPr lang="en-US" sz="2400" b="1" dirty="0" err="1">
                  <a:latin typeface="Courier New" panose="02070309020205020404" pitchFamily="49" charset="0"/>
                  <a:cs typeface="Courier New" panose="02070309020205020404" pitchFamily="49" charset="0"/>
                </a:rPr>
                <a:t>spack</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env create </a:t>
              </a:r>
              <a:r>
                <a:rPr lang="en-US" sz="2400" b="1" dirty="0" err="1">
                  <a:latin typeface="Courier New" panose="02070309020205020404" pitchFamily="49" charset="0"/>
                  <a:cs typeface="Courier New" panose="02070309020205020404" pitchFamily="49" charset="0"/>
                </a:rPr>
                <a:t>my_first_env</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spacktivate</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my_first_env</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err="1">
                  <a:latin typeface="Courier New" panose="02070309020205020404" pitchFamily="49" charset="0"/>
                  <a:cs typeface="Courier New" panose="02070309020205020404" pitchFamily="49" charset="0"/>
                </a:rPr>
                <a:t>samtools</a:t>
              </a:r>
              <a:endParaRPr lang="en-US" sz="2400" b="1" dirty="0">
                <a:latin typeface="Courier New" panose="02070309020205020404" pitchFamily="49" charset="0"/>
                <a:cs typeface="Courier New" panose="02070309020205020404" pitchFamily="49" charset="0"/>
              </a:endParaRPr>
            </a:p>
            <a:p>
              <a:pPr marL="457200" indent="-457200">
                <a:buFont typeface="Arial" panose="020B0604020202020204" pitchFamily="34" charset="0"/>
                <a:buAutoNum type="arabicPlain" startAt="3"/>
              </a:pPr>
              <a:endParaRPr lang="en-US" sz="2400" dirty="0">
                <a:latin typeface="Monaco"/>
              </a:endParaRPr>
            </a:p>
          </p:txBody>
        </p:sp>
      </p:grpSp>
      <p:sp>
        <p:nvSpPr>
          <p:cNvPr id="9" name="Content Placeholder 2">
            <a:extLst>
              <a:ext uri="{FF2B5EF4-FFF2-40B4-BE49-F238E27FC236}">
                <a16:creationId xmlns:a16="http://schemas.microsoft.com/office/drawing/2014/main" id="{935AAD4B-47C7-6360-8BAF-747D2D3FF4DB}"/>
              </a:ext>
            </a:extLst>
          </p:cNvPr>
          <p:cNvSpPr txBox="1">
            <a:spLocks/>
          </p:cNvSpPr>
          <p:nvPr/>
        </p:nvSpPr>
        <p:spPr>
          <a:xfrm>
            <a:off x="398294" y="5246505"/>
            <a:ext cx="11222205" cy="6883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900" dirty="0">
                <a:solidFill>
                  <a:srgbClr val="FF0000"/>
                </a:solidFill>
                <a:latin typeface="Helvetica Neue" panose="02000503000000020004"/>
              </a:rPr>
              <a:t>Warning: Don’t install packages outside of an environment!</a:t>
            </a:r>
          </a:p>
        </p:txBody>
      </p:sp>
      <p:sp>
        <p:nvSpPr>
          <p:cNvPr id="5" name="Slide Number Placeholder 4">
            <a:extLst>
              <a:ext uri="{FF2B5EF4-FFF2-40B4-BE49-F238E27FC236}">
                <a16:creationId xmlns:a16="http://schemas.microsoft.com/office/drawing/2014/main" id="{DCB72A79-4089-008D-BAB4-1453F6F3A4C5}"/>
              </a:ext>
            </a:extLst>
          </p:cNvPr>
          <p:cNvSpPr>
            <a:spLocks noGrp="1"/>
          </p:cNvSpPr>
          <p:nvPr>
            <p:ph type="sldNum" sz="quarter" idx="12"/>
          </p:nvPr>
        </p:nvSpPr>
        <p:spPr/>
        <p:txBody>
          <a:bodyPr/>
          <a:lstStyle/>
          <a:p>
            <a:fld id="{ABDA560F-461C-6043-9BC4-489BA92F7161}" type="slidenum">
              <a:rPr lang="en-US" smtClean="0"/>
              <a:t>18</a:t>
            </a:fld>
            <a:endParaRPr lang="en-US"/>
          </a:p>
        </p:txBody>
      </p:sp>
    </p:spTree>
    <p:extLst>
      <p:ext uri="{BB962C8B-B14F-4D97-AF65-F5344CB8AC3E}">
        <p14:creationId xmlns:p14="http://schemas.microsoft.com/office/powerpoint/2010/main" val="149676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83571" y="365125"/>
            <a:ext cx="10970229" cy="1340803"/>
          </a:xfrm>
        </p:spPr>
        <p:txBody>
          <a:bodyPr/>
          <a:lstStyle/>
          <a:p>
            <a:r>
              <a:rPr lang="en-US" b="1" dirty="0"/>
              <a:t>Simplifying Installations with </a:t>
            </a:r>
            <a:r>
              <a:rPr lang="en-US" b="1" dirty="0">
                <a:solidFill>
                  <a:schemeClr val="bg1"/>
                </a:solidFill>
                <a:latin typeface="Century Gothic"/>
              </a:rPr>
              <a:t>Spack</a:t>
            </a:r>
            <a:r>
              <a:rPr lang="en-US" b="1" dirty="0">
                <a:latin typeface="Century Gothic"/>
              </a:rPr>
              <a:t> </a:t>
            </a:r>
            <a:endParaRPr lang="en-US" dirty="0"/>
          </a:p>
        </p:txBody>
      </p:sp>
      <p:pic>
        <p:nvPicPr>
          <p:cNvPr id="12" name="Picture 11" descr="Spack package manager logo">
            <a:extLst>
              <a:ext uri="{FF2B5EF4-FFF2-40B4-BE49-F238E27FC236}">
                <a16:creationId xmlns:a16="http://schemas.microsoft.com/office/drawing/2014/main" id="{7DED75B5-96F1-7A06-8621-542EB71785E6}"/>
              </a:ext>
            </a:extLst>
          </p:cNvPr>
          <p:cNvPicPr>
            <a:picLocks noChangeAspect="1"/>
          </p:cNvPicPr>
          <p:nvPr/>
        </p:nvPicPr>
        <p:blipFill>
          <a:blip r:embed="rId3"/>
          <a:stretch>
            <a:fillRect/>
          </a:stretch>
        </p:blipFill>
        <p:spPr>
          <a:xfrm>
            <a:off x="8169729" y="513575"/>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Packages are installed within </a:t>
            </a:r>
            <a:r>
              <a:rPr lang="en-US" b="1" dirty="0">
                <a:latin typeface="Helvetica Neue" panose="02000503000000020004"/>
              </a:rPr>
              <a:t>activated</a:t>
            </a:r>
            <a:r>
              <a:rPr lang="en-US" dirty="0">
                <a:latin typeface="Helvetica Neue" panose="02000503000000020004"/>
              </a:rPr>
              <a:t> environments using Spack install</a:t>
            </a:r>
          </a:p>
          <a:p>
            <a:endParaRPr lang="en-US" dirty="0">
              <a:latin typeface="Helvetica Neue" panose="02000503000000020004"/>
            </a:endParaRPr>
          </a:p>
          <a:p>
            <a:pPr marL="0" indent="0">
              <a:buNone/>
            </a:pPr>
            <a:endParaRPr lang="en-US" dirty="0">
              <a:latin typeface="Helvetica Neue" panose="02000503000000020004"/>
            </a:endParaRPr>
          </a:p>
        </p:txBody>
      </p:sp>
      <p:grpSp>
        <p:nvGrpSpPr>
          <p:cNvPr id="10" name="Group 9">
            <a:extLst>
              <a:ext uri="{FF2B5EF4-FFF2-40B4-BE49-F238E27FC236}">
                <a16:creationId xmlns:a16="http://schemas.microsoft.com/office/drawing/2014/main" id="{FE5F2C54-B08F-1419-E1F2-4B8194B228D7}"/>
              </a:ext>
            </a:extLst>
          </p:cNvPr>
          <p:cNvGrpSpPr/>
          <p:nvPr/>
        </p:nvGrpSpPr>
        <p:grpSpPr>
          <a:xfrm>
            <a:off x="838200" y="3407718"/>
            <a:ext cx="10515600" cy="1796363"/>
            <a:chOff x="648457" y="3124385"/>
            <a:chExt cx="10895086" cy="2180089"/>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654291"/>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38200" y="3124385"/>
              <a:ext cx="10515600" cy="2180089"/>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Century Gothic" panose="020B0502020202020204" pitchFamily="34"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err="1">
                  <a:latin typeface="Courier New" panose="02070309020205020404" pitchFamily="49" charset="0"/>
                  <a:cs typeface="Courier New" panose="02070309020205020404" pitchFamily="49" charset="0"/>
                </a:rPr>
                <a:t>samtools</a:t>
              </a:r>
              <a:r>
                <a:rPr lang="en-US" sz="2400" b="1" dirty="0">
                  <a:latin typeface="Courier New" panose="02070309020205020404" pitchFamily="49" charset="0"/>
                  <a:cs typeface="Courier New" panose="02070309020205020404" pitchFamily="49" charset="0"/>
                </a:rPr>
                <a:t>	#install default </a:t>
              </a:r>
              <a:r>
                <a:rPr lang="en-US" sz="2400" b="1" dirty="0" err="1">
                  <a:latin typeface="Courier New" panose="02070309020205020404" pitchFamily="49" charset="0"/>
                  <a:cs typeface="Courier New" panose="02070309020205020404" pitchFamily="49" charset="0"/>
                </a:rPr>
                <a:t>samtools</a:t>
              </a:r>
              <a:endParaRPr lang="en-US" sz="2400" b="1" dirty="0">
                <a:latin typeface="Courier New" panose="02070309020205020404" pitchFamily="49" charset="0"/>
                <a:cs typeface="Courier New" panose="02070309020205020404" pitchFamily="49" charset="0"/>
              </a:endParaRPr>
            </a:p>
            <a:p>
              <a:pPr marL="0" indent="0">
                <a:lnSpc>
                  <a:spcPct val="120000"/>
                </a:lnSpc>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a:latin typeface="Courier New" panose="02070309020205020404" pitchFamily="49" charset="0"/>
                  <a:ea typeface="+mn-lt"/>
                  <a:cs typeface="Courier New" panose="02070309020205020404" pitchFamily="49" charset="0"/>
                </a:rPr>
                <a:t>samtools@1.9	</a:t>
              </a:r>
              <a:r>
                <a:rPr lang="en-US" sz="2400" b="1" dirty="0">
                  <a:latin typeface="Courier New" panose="02070309020205020404" pitchFamily="49" charset="0"/>
                  <a:cs typeface="Courier New" panose="02070309020205020404" pitchFamily="49" charset="0"/>
                </a:rPr>
                <a:t>#install specific version</a:t>
              </a:r>
            </a:p>
            <a:p>
              <a:pPr marL="0" indent="0">
                <a:buNone/>
              </a:pPr>
              <a:r>
                <a:rPr lang="en-US" sz="2400" dirty="0">
                  <a:latin typeface="Monaco"/>
                </a:rPr>
                <a:t>	</a:t>
              </a:r>
            </a:p>
          </p:txBody>
        </p:sp>
      </p:grpSp>
      <p:sp>
        <p:nvSpPr>
          <p:cNvPr id="5" name="Slide Number Placeholder 4">
            <a:extLst>
              <a:ext uri="{FF2B5EF4-FFF2-40B4-BE49-F238E27FC236}">
                <a16:creationId xmlns:a16="http://schemas.microsoft.com/office/drawing/2014/main" id="{E99C5286-102C-7054-8253-926C6B3F1555}"/>
              </a:ext>
            </a:extLst>
          </p:cNvPr>
          <p:cNvSpPr>
            <a:spLocks noGrp="1"/>
          </p:cNvSpPr>
          <p:nvPr>
            <p:ph type="sldNum" sz="quarter" idx="12"/>
          </p:nvPr>
        </p:nvSpPr>
        <p:spPr/>
        <p:txBody>
          <a:bodyPr/>
          <a:lstStyle/>
          <a:p>
            <a:fld id="{ABDA560F-461C-6043-9BC4-489BA92F7161}" type="slidenum">
              <a:rPr lang="en-US" smtClean="0"/>
              <a:t>19</a:t>
            </a:fld>
            <a:endParaRPr lang="en-US"/>
          </a:p>
        </p:txBody>
      </p:sp>
    </p:spTree>
    <p:extLst>
      <p:ext uri="{BB962C8B-B14F-4D97-AF65-F5344CB8AC3E}">
        <p14:creationId xmlns:p14="http://schemas.microsoft.com/office/powerpoint/2010/main" val="1221160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29282" y="359852"/>
            <a:ext cx="10515600" cy="1325563"/>
          </a:xfrm>
        </p:spPr>
        <p:txBody>
          <a:bodyPr/>
          <a:lstStyle/>
          <a:p>
            <a:r>
              <a:rPr lang="en-US" b="1" dirty="0"/>
              <a:t>Simplifying Installations with </a:t>
            </a:r>
            <a:r>
              <a:rPr lang="en-US" b="1" dirty="0">
                <a:solidFill>
                  <a:schemeClr val="bg1"/>
                </a:solidFill>
                <a:latin typeface="Century Gothic"/>
              </a:rPr>
              <a:t>Spack</a:t>
            </a:r>
          </a:p>
        </p:txBody>
      </p:sp>
      <p:pic>
        <p:nvPicPr>
          <p:cNvPr id="5" name="Picture 4" descr="Spack package manager logo">
            <a:extLst>
              <a:ext uri="{FF2B5EF4-FFF2-40B4-BE49-F238E27FC236}">
                <a16:creationId xmlns:a16="http://schemas.microsoft.com/office/drawing/2014/main" id="{AC23465F-3B47-1D27-B6EB-C1C0DD8D506D}"/>
              </a:ext>
            </a:extLst>
          </p:cNvPr>
          <p:cNvPicPr>
            <a:picLocks noChangeAspect="1"/>
          </p:cNvPicPr>
          <p:nvPr/>
        </p:nvPicPr>
        <p:blipFill>
          <a:blip r:embed="rId3"/>
          <a:stretch>
            <a:fillRect/>
          </a:stretch>
        </p:blipFill>
        <p:spPr>
          <a:xfrm>
            <a:off x="8394063" y="500682"/>
            <a:ext cx="3624942" cy="1043901"/>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2323713"/>
            <a:ext cx="10515600" cy="3311370"/>
          </a:xfrm>
        </p:spPr>
        <p:txBody>
          <a:bodyPr vert="horz" lIns="91440" tIns="45720" rIns="91440" bIns="45720" rtlCol="0" anchor="t">
            <a:normAutofit/>
          </a:bodyPr>
          <a:lstStyle/>
          <a:p>
            <a:pPr marL="0" indent="0">
              <a:buNone/>
            </a:pPr>
            <a:r>
              <a:rPr lang="en-US" dirty="0">
                <a:latin typeface="Helvetica Neue" panose="02000503000000020004"/>
                <a:cs typeface="Arial" panose="020B0604020202020204"/>
              </a:rPr>
              <a:t>Spack installations can be very slow but will progress more quickly with the addition of cores. </a:t>
            </a:r>
          </a:p>
          <a:p>
            <a:r>
              <a:rPr lang="en-US" sz="2800" b="0" i="0" dirty="0">
                <a:effectLst/>
                <a:latin typeface="Helvetica Neue" panose="02000503000000020004"/>
              </a:rPr>
              <a:t>Spack builds all packages in parallel. </a:t>
            </a:r>
          </a:p>
          <a:p>
            <a:r>
              <a:rPr lang="en-US" sz="2800" b="0" i="0" dirty="0">
                <a:effectLst/>
                <a:latin typeface="Helvetica Neue" panose="02000503000000020004"/>
              </a:rPr>
              <a:t>The default parallelism is equal to the number of cores available to the process, up to 16. </a:t>
            </a:r>
            <a:endParaRPr lang="en-US" sz="2800" dirty="0">
              <a:latin typeface="Helvetica Neue" panose="02000503000000020004"/>
              <a:cs typeface="Arial" panose="020B0604020202020204"/>
            </a:endParaRPr>
          </a:p>
        </p:txBody>
      </p:sp>
      <p:sp>
        <p:nvSpPr>
          <p:cNvPr id="7" name="Slide Number Placeholder 6">
            <a:extLst>
              <a:ext uri="{FF2B5EF4-FFF2-40B4-BE49-F238E27FC236}">
                <a16:creationId xmlns:a16="http://schemas.microsoft.com/office/drawing/2014/main" id="{04FB2E9C-09B9-EDC6-9D8A-ECE5694ACC7A}"/>
              </a:ext>
            </a:extLst>
          </p:cNvPr>
          <p:cNvSpPr>
            <a:spLocks noGrp="1"/>
          </p:cNvSpPr>
          <p:nvPr>
            <p:ph type="sldNum" sz="quarter" idx="12"/>
          </p:nvPr>
        </p:nvSpPr>
        <p:spPr/>
        <p:txBody>
          <a:bodyPr/>
          <a:lstStyle/>
          <a:p>
            <a:fld id="{ABDA560F-461C-6043-9BC4-489BA92F7161}" type="slidenum">
              <a:rPr lang="en-US" smtClean="0"/>
              <a:t>20</a:t>
            </a:fld>
            <a:endParaRPr lang="en-US"/>
          </a:p>
        </p:txBody>
      </p:sp>
    </p:spTree>
    <p:extLst>
      <p:ext uri="{BB962C8B-B14F-4D97-AF65-F5344CB8AC3E}">
        <p14:creationId xmlns:p14="http://schemas.microsoft.com/office/powerpoint/2010/main" val="2812581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34545" y="237098"/>
            <a:ext cx="11019255" cy="1340803"/>
          </a:xfrm>
        </p:spPr>
        <p:txBody>
          <a:bodyPr/>
          <a:lstStyle/>
          <a:p>
            <a:r>
              <a:rPr lang="en-US" b="1" dirty="0"/>
              <a:t>Simplifying Installations with </a:t>
            </a:r>
            <a:r>
              <a:rPr lang="en-US" b="1" dirty="0">
                <a:solidFill>
                  <a:schemeClr val="bg1"/>
                </a:solidFill>
                <a:latin typeface="Century Gothic"/>
              </a:rPr>
              <a:t>Spack</a:t>
            </a:r>
            <a:endParaRPr lang="en-US" dirty="0">
              <a:solidFill>
                <a:schemeClr val="bg1"/>
              </a:solidFill>
            </a:endParaRPr>
          </a:p>
        </p:txBody>
      </p:sp>
      <p:pic>
        <p:nvPicPr>
          <p:cNvPr id="11" name="Picture 10" descr="Spack package manager logo">
            <a:extLst>
              <a:ext uri="{FF2B5EF4-FFF2-40B4-BE49-F238E27FC236}">
                <a16:creationId xmlns:a16="http://schemas.microsoft.com/office/drawing/2014/main" id="{34817A97-2167-1F58-1795-11505E261FB8}"/>
              </a:ext>
            </a:extLst>
          </p:cNvPr>
          <p:cNvPicPr>
            <a:picLocks noChangeAspect="1"/>
          </p:cNvPicPr>
          <p:nvPr/>
        </p:nvPicPr>
        <p:blipFill>
          <a:blip r:embed="rId3"/>
          <a:stretch>
            <a:fillRect/>
          </a:stretch>
        </p:blipFill>
        <p:spPr>
          <a:xfrm>
            <a:off x="8169729" y="360256"/>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569877" y="1810087"/>
            <a:ext cx="10515600" cy="1325563"/>
          </a:xfrm>
        </p:spPr>
        <p:txBody>
          <a:bodyPr vert="horz" lIns="91440" tIns="45720" rIns="91440" bIns="45720" rtlCol="0" anchor="t">
            <a:normAutofit/>
          </a:bodyPr>
          <a:lstStyle/>
          <a:p>
            <a:pPr marL="0" indent="0">
              <a:buNone/>
            </a:pPr>
            <a:r>
              <a:rPr lang="en-US" dirty="0">
                <a:latin typeface="Helvetica Neue" panose="02000503000000020004"/>
              </a:rPr>
              <a:t>Useful Spack commands</a:t>
            </a:r>
          </a:p>
        </p:txBody>
      </p:sp>
      <p:grpSp>
        <p:nvGrpSpPr>
          <p:cNvPr id="5" name="Group 4">
            <a:extLst>
              <a:ext uri="{FF2B5EF4-FFF2-40B4-BE49-F238E27FC236}">
                <a16:creationId xmlns:a16="http://schemas.microsoft.com/office/drawing/2014/main" id="{7A9D6EB9-A572-1B30-E297-5B4419215CFB}"/>
              </a:ext>
            </a:extLst>
          </p:cNvPr>
          <p:cNvGrpSpPr/>
          <p:nvPr/>
        </p:nvGrpSpPr>
        <p:grpSpPr>
          <a:xfrm>
            <a:off x="569877" y="2212267"/>
            <a:ext cx="11407263" cy="4061991"/>
            <a:chOff x="569877" y="3824816"/>
            <a:chExt cx="11407263" cy="1514939"/>
          </a:xfrm>
        </p:grpSpPr>
        <p:sp>
          <p:nvSpPr>
            <p:cNvPr id="7" name="Rectangle 6">
              <a:extLst>
                <a:ext uri="{FF2B5EF4-FFF2-40B4-BE49-F238E27FC236}">
                  <a16:creationId xmlns:a16="http://schemas.microsoft.com/office/drawing/2014/main" id="{2D7EBED7-0821-8240-0EA9-1C4E62F92616}"/>
                </a:ext>
              </a:extLst>
            </p:cNvPr>
            <p:cNvSpPr/>
            <p:nvPr/>
          </p:nvSpPr>
          <p:spPr>
            <a:xfrm>
              <a:off x="569877" y="3911411"/>
              <a:ext cx="11052246" cy="1378142"/>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D725238-725D-4BB1-0D86-FD5BBFA97B9B}"/>
                </a:ext>
              </a:extLst>
            </p:cNvPr>
            <p:cNvSpPr txBox="1">
              <a:spLocks/>
            </p:cNvSpPr>
            <p:nvPr/>
          </p:nvSpPr>
          <p:spPr>
            <a:xfrm>
              <a:off x="719527" y="3824816"/>
              <a:ext cx="11257613" cy="15149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ourier New" panose="02070309020205020404" pitchFamily="49" charset="0"/>
                <a:cs typeface="Courier New" panose="02070309020205020404" pitchFamily="49" charset="0"/>
              </a:endParaRP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env list 				# list all your environments</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remove &lt;env&gt; 			# remove an environment</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uninstall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remove package  </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env status 				# check which env you’re in</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info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prints detailed package info</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find 					# show installed packages</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despacktivate</a:t>
              </a:r>
              <a:r>
                <a:rPr lang="en-US" sz="2000" b="1" dirty="0">
                  <a:latin typeface="Courier New" panose="02070309020205020404" pitchFamily="49" charset="0"/>
                  <a:cs typeface="Courier New" panose="02070309020205020404" pitchFamily="49" charset="0"/>
                </a:rPr>
                <a:t> 				# deactivate environment</a:t>
              </a:r>
            </a:p>
            <a:p>
              <a:pPr marL="0" indent="0">
                <a:lnSpc>
                  <a:spcPct val="100000"/>
                </a:lnSpc>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spec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list packages plan	</a:t>
              </a:r>
              <a:r>
                <a:rPr lang="en-US" sz="2000" dirty="0">
                  <a:latin typeface="Monaco" pitchFamily="2" charset="77"/>
                </a:rPr>
                <a:t>				</a:t>
              </a:r>
            </a:p>
          </p:txBody>
        </p:sp>
      </p:grpSp>
      <p:sp>
        <p:nvSpPr>
          <p:cNvPr id="6" name="Slide Number Placeholder 5">
            <a:extLst>
              <a:ext uri="{FF2B5EF4-FFF2-40B4-BE49-F238E27FC236}">
                <a16:creationId xmlns:a16="http://schemas.microsoft.com/office/drawing/2014/main" id="{C8EBC07F-3681-6BCE-C18E-E3EFB4899885}"/>
              </a:ext>
            </a:extLst>
          </p:cNvPr>
          <p:cNvSpPr>
            <a:spLocks noGrp="1"/>
          </p:cNvSpPr>
          <p:nvPr>
            <p:ph type="sldNum" sz="quarter" idx="12"/>
          </p:nvPr>
        </p:nvSpPr>
        <p:spPr/>
        <p:txBody>
          <a:bodyPr/>
          <a:lstStyle/>
          <a:p>
            <a:fld id="{ABDA560F-461C-6043-9BC4-489BA92F7161}" type="slidenum">
              <a:rPr lang="en-US" smtClean="0"/>
              <a:t>21</a:t>
            </a:fld>
            <a:endParaRPr lang="en-US"/>
          </a:p>
        </p:txBody>
      </p:sp>
    </p:spTree>
    <p:extLst>
      <p:ext uri="{BB962C8B-B14F-4D97-AF65-F5344CB8AC3E}">
        <p14:creationId xmlns:p14="http://schemas.microsoft.com/office/powerpoint/2010/main" val="4270491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08006" y="360473"/>
            <a:ext cx="10936995" cy="1340803"/>
          </a:xfrm>
        </p:spPr>
        <p:txBody>
          <a:bodyPr/>
          <a:lstStyle/>
          <a:p>
            <a:r>
              <a:rPr lang="en-US" b="1" dirty="0"/>
              <a:t>Simplifying Installations with </a:t>
            </a:r>
            <a:r>
              <a:rPr lang="en-US" b="1" dirty="0">
                <a:solidFill>
                  <a:schemeClr val="bg1"/>
                </a:solidFill>
                <a:latin typeface="Century Gothic"/>
              </a:rPr>
              <a:t>Spack</a:t>
            </a:r>
            <a:endParaRPr lang="en-US" dirty="0">
              <a:solidFill>
                <a:schemeClr val="bg1"/>
              </a:solidFill>
            </a:endParaRPr>
          </a:p>
        </p:txBody>
      </p:sp>
      <p:pic>
        <p:nvPicPr>
          <p:cNvPr id="11" name="Picture 10" descr="Spack package manager logo">
            <a:extLst>
              <a:ext uri="{FF2B5EF4-FFF2-40B4-BE49-F238E27FC236}">
                <a16:creationId xmlns:a16="http://schemas.microsoft.com/office/drawing/2014/main" id="{55579115-F622-3F29-C7C4-156638B90322}"/>
              </a:ext>
            </a:extLst>
          </p:cNvPr>
          <p:cNvPicPr>
            <a:picLocks noChangeAspect="1"/>
          </p:cNvPicPr>
          <p:nvPr/>
        </p:nvPicPr>
        <p:blipFill>
          <a:blip r:embed="rId3"/>
          <a:stretch>
            <a:fillRect/>
          </a:stretch>
        </p:blipFill>
        <p:spPr>
          <a:xfrm>
            <a:off x="8402031" y="466697"/>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vert="horz" lIns="91440" tIns="45720" rIns="91440" bIns="45720" rtlCol="0" anchor="t">
            <a:normAutofit/>
          </a:bodyPr>
          <a:lstStyle/>
          <a:p>
            <a:r>
              <a:rPr lang="en-US" dirty="0">
                <a:latin typeface="Helvetica Neue" panose="02000503000000020004"/>
              </a:rPr>
              <a:t>Useful Spack file paths</a:t>
            </a:r>
          </a:p>
        </p:txBody>
      </p:sp>
      <p:grpSp>
        <p:nvGrpSpPr>
          <p:cNvPr id="9" name="Group 8">
            <a:extLst>
              <a:ext uri="{FF2B5EF4-FFF2-40B4-BE49-F238E27FC236}">
                <a16:creationId xmlns:a16="http://schemas.microsoft.com/office/drawing/2014/main" id="{135E1F56-FFCD-E6DF-3643-74051A07CC50}"/>
              </a:ext>
            </a:extLst>
          </p:cNvPr>
          <p:cNvGrpSpPr/>
          <p:nvPr/>
        </p:nvGrpSpPr>
        <p:grpSpPr>
          <a:xfrm>
            <a:off x="569877" y="2155248"/>
            <a:ext cx="11052246" cy="3965601"/>
            <a:chOff x="569877" y="3824816"/>
            <a:chExt cx="11052246" cy="1478990"/>
          </a:xfrm>
        </p:grpSpPr>
        <p:sp>
          <p:nvSpPr>
            <p:cNvPr id="6" name="Rectangle 5">
              <a:extLst>
                <a:ext uri="{FF2B5EF4-FFF2-40B4-BE49-F238E27FC236}">
                  <a16:creationId xmlns:a16="http://schemas.microsoft.com/office/drawing/2014/main" id="{A80729F3-D412-FC2D-BD21-74C655745520}"/>
                </a:ext>
              </a:extLst>
            </p:cNvPr>
            <p:cNvSpPr/>
            <p:nvPr/>
          </p:nvSpPr>
          <p:spPr>
            <a:xfrm>
              <a:off x="569877" y="3911411"/>
              <a:ext cx="11052246" cy="139239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719528" y="3824816"/>
              <a:ext cx="10634272" cy="131399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root of the Spack install tree</a:t>
              </a:r>
              <a:endParaRPr lang="en-US" sz="2000" b="1" dirty="0">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/projects/$USER/software/</a:t>
              </a:r>
              <a:r>
                <a:rPr lang="en-US" sz="2000" b="1" dirty="0" err="1">
                  <a:latin typeface="Courier New" panose="02070309020205020404" pitchFamily="49" charset="0"/>
                  <a:cs typeface="Courier New" panose="02070309020205020404" pitchFamily="49" charset="0"/>
                </a:rPr>
                <a:t>spack</a:t>
              </a: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location of package executables - these are symbolically linked to 	the installation tree subdirectory</a:t>
              </a:r>
              <a:endParaRPr lang="en-US" sz="2000" b="1" dirty="0">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a:t>
              </a:r>
              <a:r>
                <a:rPr lang="en-US" sz="2000" b="1" dirty="0">
                  <a:latin typeface="Courier New" panose="02070309020205020404" pitchFamily="49" charset="0"/>
                  <a:ea typeface="+mn-lt"/>
                  <a:cs typeface="Courier New" panose="02070309020205020404" pitchFamily="49" charset="0"/>
                </a:rPr>
                <a:t>projects/$USER/</a:t>
              </a:r>
              <a:r>
                <a:rPr lang="en-US" sz="2000" b="1" dirty="0" err="1">
                  <a:latin typeface="Courier New" panose="02070309020205020404" pitchFamily="49" charset="0"/>
                  <a:ea typeface="+mn-lt"/>
                  <a:cs typeface="Courier New" panose="02070309020205020404" pitchFamily="49" charset="0"/>
                </a:rPr>
                <a:t>spack</a:t>
              </a:r>
              <a:r>
                <a:rPr lang="en-US" sz="2000" b="1" dirty="0">
                  <a:latin typeface="Courier New" panose="02070309020205020404" pitchFamily="49" charset="0"/>
                  <a:ea typeface="+mn-lt"/>
                  <a:cs typeface="Courier New" panose="02070309020205020404" pitchFamily="49" charset="0"/>
                </a:rPr>
                <a:t>/environments/&lt;env&gt;/.</a:t>
              </a:r>
              <a:r>
                <a:rPr lang="en-US" sz="2000" b="1" dirty="0" err="1">
                  <a:latin typeface="Courier New" panose="02070309020205020404" pitchFamily="49" charset="0"/>
                  <a:ea typeface="+mn-lt"/>
                  <a:cs typeface="Courier New" panose="02070309020205020404" pitchFamily="49" charset="0"/>
                </a:rPr>
                <a:t>spack</a:t>
              </a:r>
              <a:r>
                <a:rPr lang="en-US" sz="2000" b="1" dirty="0">
                  <a:latin typeface="Courier New" panose="02070309020205020404" pitchFamily="49" charset="0"/>
                  <a:ea typeface="+mn-lt"/>
                  <a:cs typeface="Courier New" panose="02070309020205020404" pitchFamily="49" charset="0"/>
                </a:rPr>
                <a:t>-env/view/bin</a:t>
              </a:r>
              <a:endParaRPr lang="en-US" sz="2000" b="1" dirty="0">
                <a:latin typeface="Courier New" panose="02070309020205020404" pitchFamily="49" charset="0"/>
                <a:cs typeface="Courier New" panose="02070309020205020404" pitchFamily="49" charset="0"/>
              </a:endParaRPr>
            </a:p>
            <a:p>
              <a:pPr marL="0" indent="0">
                <a:buNone/>
              </a:pP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location of Spack config file</a:t>
              </a: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/home/$USER/.</a:t>
              </a:r>
              <a:r>
                <a:rPr lang="en-US" sz="2000" b="1" dirty="0" err="1">
                  <a:latin typeface="Courier New" panose="02070309020205020404" pitchFamily="49" charset="0"/>
                  <a:ea typeface="Helvetica Neue" panose="02000503000000020004" pitchFamily="2" charset="0"/>
                  <a:cs typeface="Courier New" panose="02070309020205020404" pitchFamily="49" charset="0"/>
                </a:rPr>
                <a:t>spack</a:t>
              </a:r>
              <a:r>
                <a:rPr lang="en-US" sz="2000" b="1" dirty="0">
                  <a:latin typeface="Courier New" panose="02070309020205020404" pitchFamily="49" charset="0"/>
                  <a:ea typeface="Helvetica Neue" panose="02000503000000020004" pitchFamily="2" charset="0"/>
                  <a:cs typeface="Courier New" panose="02070309020205020404" pitchFamily="49" charset="0"/>
                </a:rPr>
                <a:t>/</a:t>
              </a:r>
              <a:r>
                <a:rPr lang="en-US" sz="2000" b="1" dirty="0" err="1">
                  <a:latin typeface="Courier New" panose="02070309020205020404" pitchFamily="49" charset="0"/>
                  <a:ea typeface="Helvetica Neue" panose="02000503000000020004" pitchFamily="2" charset="0"/>
                  <a:cs typeface="Courier New" panose="02070309020205020404" pitchFamily="49" charset="0"/>
                </a:rPr>
                <a:t>config.yaml</a:t>
              </a: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lnSpc>
                  <a:spcPct val="100000"/>
                </a:lnSpc>
                <a:buNone/>
              </a:pPr>
              <a:r>
                <a:rPr lang="en-US" sz="2000" dirty="0">
                  <a:latin typeface="Monaco"/>
                </a:rPr>
                <a:t>	</a:t>
              </a:r>
            </a:p>
          </p:txBody>
        </p:sp>
      </p:grpSp>
      <p:sp>
        <p:nvSpPr>
          <p:cNvPr id="5" name="Slide Number Placeholder 4">
            <a:extLst>
              <a:ext uri="{FF2B5EF4-FFF2-40B4-BE49-F238E27FC236}">
                <a16:creationId xmlns:a16="http://schemas.microsoft.com/office/drawing/2014/main" id="{768565B1-3609-7FF0-F9C4-FAA709932832}"/>
              </a:ext>
            </a:extLst>
          </p:cNvPr>
          <p:cNvSpPr>
            <a:spLocks noGrp="1"/>
          </p:cNvSpPr>
          <p:nvPr>
            <p:ph type="sldNum" sz="quarter" idx="12"/>
          </p:nvPr>
        </p:nvSpPr>
        <p:spPr/>
        <p:txBody>
          <a:bodyPr/>
          <a:lstStyle/>
          <a:p>
            <a:fld id="{ABDA560F-461C-6043-9BC4-489BA92F7161}" type="slidenum">
              <a:rPr lang="en-US" smtClean="0"/>
              <a:t>22</a:t>
            </a:fld>
            <a:endParaRPr lang="en-US"/>
          </a:p>
        </p:txBody>
      </p:sp>
    </p:spTree>
    <p:extLst>
      <p:ext uri="{BB962C8B-B14F-4D97-AF65-F5344CB8AC3E}">
        <p14:creationId xmlns:p14="http://schemas.microsoft.com/office/powerpoint/2010/main" val="2964489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97526" y="365125"/>
            <a:ext cx="10956274" cy="1334743"/>
          </a:xfrm>
        </p:spPr>
        <p:txBody>
          <a:bodyPr/>
          <a:lstStyle/>
          <a:p>
            <a:r>
              <a:rPr lang="en-US" b="1" dirty="0"/>
              <a:t>Want to go the extra mile? </a:t>
            </a:r>
          </a:p>
        </p:txBody>
      </p:sp>
      <p:sp>
        <p:nvSpPr>
          <p:cNvPr id="22" name="TextBox 21">
            <a:extLst>
              <a:ext uri="{FF2B5EF4-FFF2-40B4-BE49-F238E27FC236}">
                <a16:creationId xmlns:a16="http://schemas.microsoft.com/office/drawing/2014/main" id="{CDAE866F-9A4C-BC78-08C5-4310C2B3246B}"/>
              </a:ext>
            </a:extLst>
          </p:cNvPr>
          <p:cNvSpPr txBox="1"/>
          <p:nvPr/>
        </p:nvSpPr>
        <p:spPr>
          <a:xfrm>
            <a:off x="569877" y="1690687"/>
            <a:ext cx="11052246" cy="4401205"/>
          </a:xfrm>
          <a:prstGeom prst="rect">
            <a:avLst/>
          </a:prstGeom>
          <a:noFill/>
        </p:spPr>
        <p:txBody>
          <a:bodyPr wrap="square" lIns="91440" tIns="45720" rIns="91440" bIns="45720" rtlCol="0" anchor="ctr">
            <a:spAutoFit/>
          </a:bodyPr>
          <a:lstStyle/>
          <a:p>
            <a:r>
              <a:rPr lang="en-US" sz="2800" dirty="0">
                <a:latin typeface="Helvetica Neue" panose="02000503000000020004"/>
              </a:rPr>
              <a:t>Try our Hands-on exercise provided in EXERCISES.md. </a:t>
            </a:r>
            <a:r>
              <a:rPr lang="en-US" sz="2800" u="sng" dirty="0">
                <a:latin typeface="Helvetica Neue" panose="02000503000000020004"/>
              </a:rPr>
              <a:t>This is not required for the micro-credential. </a:t>
            </a:r>
          </a:p>
          <a:p>
            <a:endParaRPr lang="en-US" sz="2800" dirty="0">
              <a:latin typeface="Helvetica Neue" panose="02000503000000020004"/>
            </a:endParaRPr>
          </a:p>
          <a:p>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Create a Spack environment</a:t>
            </a:r>
          </a:p>
          <a:p>
            <a:pPr marL="514350" indent="-514350">
              <a:buFont typeface="+mj-lt"/>
              <a:buAutoNum type="arabicPeriod"/>
            </a:pPr>
            <a:r>
              <a:rPr lang="en-US" sz="2800" dirty="0">
                <a:latin typeface="Helvetica Neue" panose="02000503000000020004"/>
              </a:rPr>
              <a:t>Install </a:t>
            </a:r>
            <a:r>
              <a:rPr lang="en-US" sz="2800" dirty="0" err="1">
                <a:latin typeface="Helvetica Neue" panose="02000503000000020004"/>
                <a:cs typeface="Courier New" panose="02070309020205020404" pitchFamily="49" charset="0"/>
              </a:rPr>
              <a:t>fastqc</a:t>
            </a:r>
            <a:r>
              <a:rPr lang="en-US" sz="2800" dirty="0">
                <a:latin typeface="Helvetica Neue" panose="02000503000000020004"/>
              </a:rPr>
              <a:t> in your Spack environment</a:t>
            </a:r>
          </a:p>
          <a:p>
            <a:endParaRPr lang="en-US" sz="2800" dirty="0">
              <a:latin typeface="Helvetica Neue" panose="02000503000000020004"/>
            </a:endParaRPr>
          </a:p>
          <a:p>
            <a:r>
              <a:rPr lang="en-US" sz="2800" b="1" dirty="0">
                <a:latin typeface="Helvetica Neue" panose="02000503000000020004"/>
              </a:rPr>
              <a:t>Estimated time to complete</a:t>
            </a:r>
            <a:r>
              <a:rPr lang="en-US" sz="2800" dirty="0">
                <a:latin typeface="Helvetica Neue" panose="02000503000000020004"/>
              </a:rPr>
              <a:t>: 20 minutes</a:t>
            </a:r>
            <a:endParaRPr lang="en-US" sz="2800" b="1" dirty="0">
              <a:latin typeface="Helvetica Neue" panose="02000503000000020004"/>
            </a:endParaRPr>
          </a:p>
          <a:p>
            <a:r>
              <a:rPr lang="en-US" sz="2800" b="1" dirty="0">
                <a:latin typeface="Helvetica Neue" panose="02000503000000020004"/>
              </a:rPr>
              <a:t>Documentation: </a:t>
            </a:r>
            <a:r>
              <a:rPr lang="en-US" sz="2800" b="1" dirty="0">
                <a:latin typeface="Helvetica Neue" panose="02000503000000020004"/>
                <a:hlinkClick r:id="rId3"/>
              </a:rPr>
              <a:t>https://curc.readthedocs.io/en/latest/software/spack.html</a:t>
            </a:r>
            <a:r>
              <a:rPr lang="en-US" sz="2800" b="1" dirty="0">
                <a:latin typeface="Helvetica Neue" panose="02000503000000020004"/>
              </a:rPr>
              <a:t> </a:t>
            </a:r>
          </a:p>
        </p:txBody>
      </p:sp>
      <p:sp>
        <p:nvSpPr>
          <p:cNvPr id="5" name="Slide Number Placeholder 4">
            <a:extLst>
              <a:ext uri="{FF2B5EF4-FFF2-40B4-BE49-F238E27FC236}">
                <a16:creationId xmlns:a16="http://schemas.microsoft.com/office/drawing/2014/main" id="{695EB8C3-6A15-8F81-604D-89CD1359B17C}"/>
              </a:ext>
            </a:extLst>
          </p:cNvPr>
          <p:cNvSpPr>
            <a:spLocks noGrp="1"/>
          </p:cNvSpPr>
          <p:nvPr>
            <p:ph type="sldNum" sz="quarter" idx="12"/>
          </p:nvPr>
        </p:nvSpPr>
        <p:spPr/>
        <p:txBody>
          <a:bodyPr/>
          <a:lstStyle/>
          <a:p>
            <a:fld id="{ABDA560F-461C-6043-9BC4-489BA92F7161}" type="slidenum">
              <a:rPr lang="en-US" smtClean="0"/>
              <a:t>23</a:t>
            </a:fld>
            <a:endParaRPr lang="en-US"/>
          </a:p>
        </p:txBody>
      </p:sp>
    </p:spTree>
    <p:extLst>
      <p:ext uri="{BB962C8B-B14F-4D97-AF65-F5344CB8AC3E}">
        <p14:creationId xmlns:p14="http://schemas.microsoft.com/office/powerpoint/2010/main" val="1450985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729912" y="304965"/>
            <a:ext cx="10515600" cy="1325563"/>
          </a:xfrm>
        </p:spPr>
        <p:txBody>
          <a:bodyPr/>
          <a:lstStyle/>
          <a:p>
            <a:r>
              <a:rPr lang="en-US" b="1" dirty="0"/>
              <a:t>Containerization with</a:t>
            </a:r>
            <a:endParaRPr lang="en-US" b="1" dirty="0">
              <a:latin typeface="Century Gothic" panose="020B0502020202020204" pitchFamily="34" charset="0"/>
            </a:endParaRP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3"/>
          <a:stretch>
            <a:fillRect/>
          </a:stretch>
        </p:blipFill>
        <p:spPr>
          <a:xfrm>
            <a:off x="6725748" y="55439"/>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746125"/>
            <a:ext cx="10515600" cy="4351338"/>
          </a:xfrm>
        </p:spPr>
        <p:txBody>
          <a:bodyPr>
            <a:noAutofit/>
          </a:bodyPr>
          <a:lstStyle/>
          <a:p>
            <a:pPr marL="0" indent="0">
              <a:buNone/>
            </a:pPr>
            <a:r>
              <a:rPr lang="en-US" dirty="0">
                <a:latin typeface="Helvetica Neue" panose="02000503000000020004"/>
              </a:rPr>
              <a:t>Containers are portable virtualizations of an operating system, software, libraries, data, and/or workflows</a:t>
            </a:r>
          </a:p>
          <a:p>
            <a:pPr lvl="1"/>
            <a:r>
              <a:rPr lang="en-US" sz="2600" dirty="0">
                <a:latin typeface="Helvetica Neue" panose="02000503000000020004"/>
              </a:rPr>
              <a:t>Pros</a:t>
            </a:r>
          </a:p>
          <a:p>
            <a:pPr lvl="2"/>
            <a:r>
              <a:rPr lang="en-US" sz="2400" dirty="0">
                <a:latin typeface="Helvetica Neue" panose="02000503000000020004"/>
              </a:rPr>
              <a:t>Portability</a:t>
            </a:r>
            <a:r>
              <a:rPr lang="en-US" sz="2400" b="1" dirty="0">
                <a:latin typeface="Helvetica Neue" panose="02000503000000020004"/>
              </a:rPr>
              <a:t>- </a:t>
            </a:r>
            <a:r>
              <a:rPr lang="en-US" sz="2400" dirty="0">
                <a:latin typeface="Helvetica Neue" panose="02000503000000020004"/>
              </a:rPr>
              <a:t>they can run on any system equipped with its specified container manager </a:t>
            </a:r>
            <a:endParaRPr lang="en-US" sz="2400" i="1" u="sng" dirty="0">
              <a:latin typeface="Helvetica Neue" panose="02000503000000020004"/>
            </a:endParaRPr>
          </a:p>
          <a:p>
            <a:pPr lvl="2"/>
            <a:r>
              <a:rPr lang="en-US" sz="2400" dirty="0">
                <a:latin typeface="Helvetica Neue" panose="02000503000000020004"/>
              </a:rPr>
              <a:t>Reproducibility- they are instances of prebuilt isolated software; the software will always be the same every time</a:t>
            </a:r>
          </a:p>
          <a:p>
            <a:pPr lvl="1"/>
            <a:r>
              <a:rPr lang="en-US" sz="2600" dirty="0">
                <a:latin typeface="Helvetica Neue" panose="02000503000000020004"/>
              </a:rPr>
              <a:t>Cons</a:t>
            </a:r>
          </a:p>
          <a:p>
            <a:pPr lvl="2"/>
            <a:r>
              <a:rPr lang="en-US" sz="2400" dirty="0">
                <a:latin typeface="Helvetica Neue" panose="02000503000000020004"/>
              </a:rPr>
              <a:t>Steeper learning curve than Mamba, Conda, and Spack</a:t>
            </a:r>
          </a:p>
          <a:p>
            <a:pPr lvl="2"/>
            <a:r>
              <a:rPr lang="en-US" sz="2400" dirty="0">
                <a:latin typeface="Helvetica Neue" panose="02000503000000020004"/>
              </a:rPr>
              <a:t>Can be difficult to troubleshoot issues</a:t>
            </a:r>
          </a:p>
          <a:p>
            <a:pPr lvl="2"/>
            <a:r>
              <a:rPr lang="en-US" sz="2400" dirty="0">
                <a:latin typeface="Helvetica Neue" panose="02000503000000020004"/>
              </a:rPr>
              <a:t>Building containers can be tricky for multi-node MPI applications </a:t>
            </a:r>
          </a:p>
        </p:txBody>
      </p:sp>
      <p:sp>
        <p:nvSpPr>
          <p:cNvPr id="5" name="Slide Number Placeholder 4">
            <a:extLst>
              <a:ext uri="{FF2B5EF4-FFF2-40B4-BE49-F238E27FC236}">
                <a16:creationId xmlns:a16="http://schemas.microsoft.com/office/drawing/2014/main" id="{8C24337F-EDA7-EEB0-14D7-E71DFAAFEC70}"/>
              </a:ext>
            </a:extLst>
          </p:cNvPr>
          <p:cNvSpPr>
            <a:spLocks noGrp="1"/>
          </p:cNvSpPr>
          <p:nvPr>
            <p:ph type="sldNum" sz="quarter" idx="12"/>
          </p:nvPr>
        </p:nvSpPr>
        <p:spPr/>
        <p:txBody>
          <a:bodyPr/>
          <a:lstStyle/>
          <a:p>
            <a:fld id="{ABDA560F-461C-6043-9BC4-489BA92F7161}" type="slidenum">
              <a:rPr lang="en-US" smtClean="0"/>
              <a:t>24</a:t>
            </a:fld>
            <a:endParaRPr lang="en-US"/>
          </a:p>
        </p:txBody>
      </p:sp>
    </p:spTree>
    <p:extLst>
      <p:ext uri="{BB962C8B-B14F-4D97-AF65-F5344CB8AC3E}">
        <p14:creationId xmlns:p14="http://schemas.microsoft.com/office/powerpoint/2010/main" val="289038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solidFill>
                  <a:schemeClr val="bg1"/>
                </a:solidFill>
                <a:latin typeface="Century Gothic" panose="020B0502020202020204" pitchFamily="34" charset="0"/>
              </a:rPr>
              <a:t>Apptainer</a:t>
            </a:r>
            <a:r>
              <a:rPr lang="en-US" b="1" dirty="0">
                <a:latin typeface="Century Gothic" panose="020B0502020202020204" pitchFamily="34" charset="0"/>
              </a:rPr>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2"/>
          <a:stretch>
            <a:fillRect/>
          </a:stretch>
        </p:blipFill>
        <p:spPr>
          <a:xfrm>
            <a:off x="6725748" y="38163"/>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2190750"/>
            <a:ext cx="10515600" cy="3794590"/>
          </a:xfrm>
        </p:spPr>
        <p:txBody>
          <a:bodyPr>
            <a:normAutofit/>
          </a:bodyPr>
          <a:lstStyle/>
          <a:p>
            <a:r>
              <a:rPr lang="en-US" dirty="0">
                <a:latin typeface="Helvetica Neue" panose="02000503000000020004"/>
              </a:rPr>
              <a:t>CURC offers </a:t>
            </a:r>
            <a:r>
              <a:rPr lang="en-US" dirty="0" err="1">
                <a:latin typeface="Helvetica Neue" panose="02000503000000020004"/>
              </a:rPr>
              <a:t>Apptainer</a:t>
            </a:r>
            <a:r>
              <a:rPr lang="en-US" dirty="0">
                <a:latin typeface="Helvetica Neue" panose="02000503000000020004"/>
              </a:rPr>
              <a:t> (formerly Singularity) as container management software</a:t>
            </a:r>
          </a:p>
          <a:p>
            <a:pPr lvl="1"/>
            <a:r>
              <a:rPr lang="en-US" sz="2600" dirty="0" err="1">
                <a:latin typeface="Helvetica Neue" panose="02000503000000020004"/>
              </a:rPr>
              <a:t>Apptainer</a:t>
            </a:r>
            <a:r>
              <a:rPr lang="en-US" sz="2600" dirty="0">
                <a:latin typeface="Helvetica Neue" panose="02000503000000020004"/>
              </a:rPr>
              <a:t> comes pre-installed on all Alpine nodes, so no need to load any specific software modules!</a:t>
            </a:r>
            <a:endParaRPr lang="en-US" sz="2800" dirty="0">
              <a:latin typeface="Helvetica Neue" panose="02000503000000020004"/>
            </a:endParaRPr>
          </a:p>
          <a:p>
            <a:r>
              <a:rPr lang="en-US" dirty="0">
                <a:latin typeface="Helvetica Neue" panose="02000503000000020004"/>
              </a:rPr>
              <a:t>Many common research applications have already been containerized and can be pulled from container repositories (such as Docker Hub).</a:t>
            </a:r>
          </a:p>
        </p:txBody>
      </p:sp>
      <p:sp>
        <p:nvSpPr>
          <p:cNvPr id="5" name="Slide Number Placeholder 4">
            <a:extLst>
              <a:ext uri="{FF2B5EF4-FFF2-40B4-BE49-F238E27FC236}">
                <a16:creationId xmlns:a16="http://schemas.microsoft.com/office/drawing/2014/main" id="{C4060D0F-7C7C-F5F0-B1F5-3EDE5AEC10E3}"/>
              </a:ext>
            </a:extLst>
          </p:cNvPr>
          <p:cNvSpPr>
            <a:spLocks noGrp="1"/>
          </p:cNvSpPr>
          <p:nvPr>
            <p:ph type="sldNum" sz="quarter" idx="12"/>
          </p:nvPr>
        </p:nvSpPr>
        <p:spPr/>
        <p:txBody>
          <a:bodyPr/>
          <a:lstStyle/>
          <a:p>
            <a:fld id="{ABDA560F-461C-6043-9BC4-489BA92F7161}" type="slidenum">
              <a:rPr lang="en-US" smtClean="0"/>
              <a:t>25</a:t>
            </a:fld>
            <a:endParaRPr lang="en-US"/>
          </a:p>
        </p:txBody>
      </p:sp>
    </p:spTree>
    <p:extLst>
      <p:ext uri="{BB962C8B-B14F-4D97-AF65-F5344CB8AC3E}">
        <p14:creationId xmlns:p14="http://schemas.microsoft.com/office/powerpoint/2010/main" val="3683016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t>Apptainer</a:t>
            </a:r>
            <a:r>
              <a:rPr lang="en-US" b="1" dirty="0"/>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3"/>
          <a:stretch>
            <a:fillRect/>
          </a:stretch>
        </p:blipFill>
        <p:spPr>
          <a:xfrm>
            <a:off x="6725748" y="136525"/>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825625"/>
            <a:ext cx="10515600" cy="4351338"/>
          </a:xfrm>
        </p:spPr>
        <p:txBody>
          <a:bodyPr>
            <a:normAutofit/>
          </a:bodyPr>
          <a:lstStyle/>
          <a:p>
            <a:pPr marL="0" indent="0">
              <a:buNone/>
            </a:pPr>
            <a:r>
              <a:rPr lang="en-US" dirty="0">
                <a:latin typeface="Helvetica Neue" panose="02000503000000020004"/>
              </a:rPr>
              <a:t>Useful</a:t>
            </a:r>
            <a:r>
              <a:rPr lang="en-US" sz="2800" dirty="0">
                <a:latin typeface="Helvetica Neue" panose="02000503000000020004"/>
              </a:rPr>
              <a:t> </a:t>
            </a:r>
            <a:r>
              <a:rPr lang="en-US" sz="2800" dirty="0" err="1">
                <a:latin typeface="Helvetica Neue" panose="02000503000000020004"/>
              </a:rPr>
              <a:t>A</a:t>
            </a:r>
            <a:r>
              <a:rPr lang="en-US" dirty="0" err="1">
                <a:latin typeface="Helvetica Neue" panose="02000503000000020004"/>
              </a:rPr>
              <a:t>pptainer</a:t>
            </a:r>
            <a:r>
              <a:rPr lang="en-US" sz="2800" b="1" dirty="0">
                <a:latin typeface="Helvetica Neue" panose="02000503000000020004"/>
              </a:rPr>
              <a:t> </a:t>
            </a:r>
            <a:r>
              <a:rPr lang="en-US" sz="2800" dirty="0">
                <a:latin typeface="Helvetica Neue" panose="02000503000000020004"/>
              </a:rPr>
              <a:t>commands:</a:t>
            </a:r>
          </a:p>
        </p:txBody>
      </p:sp>
      <p:grpSp>
        <p:nvGrpSpPr>
          <p:cNvPr id="3" name="Group 2">
            <a:extLst>
              <a:ext uri="{FF2B5EF4-FFF2-40B4-BE49-F238E27FC236}">
                <a16:creationId xmlns:a16="http://schemas.microsoft.com/office/drawing/2014/main" id="{38E8B5FC-8651-0D47-A1AA-44F2FEF1E5AA}"/>
              </a:ext>
            </a:extLst>
          </p:cNvPr>
          <p:cNvGrpSpPr/>
          <p:nvPr/>
        </p:nvGrpSpPr>
        <p:grpSpPr>
          <a:xfrm>
            <a:off x="569877" y="2551530"/>
            <a:ext cx="11052246" cy="3737043"/>
            <a:chOff x="569877" y="3840966"/>
            <a:chExt cx="11052246" cy="1393748"/>
          </a:xfrm>
        </p:grpSpPr>
        <p:sp>
          <p:nvSpPr>
            <p:cNvPr id="7" name="Rectangle 6">
              <a:extLst>
                <a:ext uri="{FF2B5EF4-FFF2-40B4-BE49-F238E27FC236}">
                  <a16:creationId xmlns:a16="http://schemas.microsoft.com/office/drawing/2014/main" id="{92A1AD42-7ABE-1FF8-A9DB-C83DCB936938}"/>
                </a:ext>
              </a:extLst>
            </p:cNvPr>
            <p:cNvSpPr/>
            <p:nvPr/>
          </p:nvSpPr>
          <p:spPr>
            <a:xfrm>
              <a:off x="569877" y="3840966"/>
              <a:ext cx="11052246" cy="122740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87C36984-4B7A-183D-3345-EEF84D7B8557}"/>
                </a:ext>
              </a:extLst>
            </p:cNvPr>
            <p:cNvSpPr txBox="1">
              <a:spLocks/>
            </p:cNvSpPr>
            <p:nvPr/>
          </p:nvSpPr>
          <p:spPr>
            <a:xfrm>
              <a:off x="719528" y="3920719"/>
              <a:ext cx="10634272" cy="13139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exec 		#Execute a command to your container</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run 		#Run your image as an executable</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build 		#Build a container</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pull 		#pull an image from hub</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inspect 	#See labels/environment vars, run scripts</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shell 		#Access the command line of your container</a:t>
              </a:r>
            </a:p>
            <a:p>
              <a:pPr marL="0" indent="0">
                <a:buFont typeface="Arial" panose="020B0604020202020204" pitchFamily="34" charset="0"/>
                <a:buNone/>
              </a:pPr>
              <a:endParaRPr lang="en-US" sz="2000" dirty="0">
                <a:latin typeface="Monaco" pitchFamily="2" charset="77"/>
              </a:endParaRPr>
            </a:p>
          </p:txBody>
        </p:sp>
      </p:grpSp>
      <p:sp>
        <p:nvSpPr>
          <p:cNvPr id="5" name="Slide Number Placeholder 4">
            <a:extLst>
              <a:ext uri="{FF2B5EF4-FFF2-40B4-BE49-F238E27FC236}">
                <a16:creationId xmlns:a16="http://schemas.microsoft.com/office/drawing/2014/main" id="{81523256-4CAE-ABEF-6446-AAF69FBD5FC9}"/>
              </a:ext>
            </a:extLst>
          </p:cNvPr>
          <p:cNvSpPr>
            <a:spLocks noGrp="1"/>
          </p:cNvSpPr>
          <p:nvPr>
            <p:ph type="sldNum" sz="quarter" idx="12"/>
          </p:nvPr>
        </p:nvSpPr>
        <p:spPr/>
        <p:txBody>
          <a:bodyPr/>
          <a:lstStyle/>
          <a:p>
            <a:fld id="{ABDA560F-461C-6043-9BC4-489BA92F7161}" type="slidenum">
              <a:rPr lang="en-US" smtClean="0"/>
              <a:t>26</a:t>
            </a:fld>
            <a:endParaRPr lang="en-US"/>
          </a:p>
        </p:txBody>
      </p:sp>
    </p:spTree>
    <p:extLst>
      <p:ext uri="{BB962C8B-B14F-4D97-AF65-F5344CB8AC3E}">
        <p14:creationId xmlns:p14="http://schemas.microsoft.com/office/powerpoint/2010/main" val="3426185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solidFill>
                  <a:schemeClr val="bg1"/>
                </a:solidFill>
                <a:latin typeface="Century Gothic" panose="020B0502020202020204" pitchFamily="34" charset="0"/>
              </a:rPr>
              <a:t>Apptainer</a:t>
            </a:r>
            <a:r>
              <a:rPr lang="en-US" b="1" dirty="0">
                <a:latin typeface="Century Gothic" panose="020B0502020202020204" pitchFamily="34" charset="0"/>
              </a:rPr>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2"/>
          <a:stretch>
            <a:fillRect/>
          </a:stretch>
        </p:blipFill>
        <p:spPr>
          <a:xfrm>
            <a:off x="6716223" y="20067"/>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710753"/>
            <a:ext cx="10515600" cy="4351338"/>
          </a:xfrm>
        </p:spPr>
        <p:txBody>
          <a:bodyPr>
            <a:normAutofit/>
          </a:bodyPr>
          <a:lstStyle/>
          <a:p>
            <a:pPr marL="0" indent="0">
              <a:buFont typeface="Arial" panose="020B0604020202020204" pitchFamily="34" charset="0"/>
              <a:buNone/>
            </a:pPr>
            <a:r>
              <a:rPr lang="en-US" sz="2800" dirty="0">
                <a:latin typeface="Helvetica Neue" panose="02000503000000020004"/>
              </a:rPr>
              <a:t>A container has its own file system and so needs help “seeing” files outside the container (on the host system). If </a:t>
            </a:r>
            <a:r>
              <a:rPr lang="en-US" dirty="0">
                <a:latin typeface="Helvetica Neue" panose="02000503000000020004"/>
              </a:rPr>
              <a:t>not done in the .def file, t</a:t>
            </a:r>
            <a:r>
              <a:rPr lang="en-US" sz="2800" dirty="0">
                <a:latin typeface="Helvetica Neue" panose="02000503000000020004"/>
              </a:rPr>
              <a:t>his can be accomplished at runtime with bind mounting:</a:t>
            </a:r>
          </a:p>
        </p:txBody>
      </p:sp>
      <p:sp>
        <p:nvSpPr>
          <p:cNvPr id="13" name="Content Placeholder 2">
            <a:extLst>
              <a:ext uri="{FF2B5EF4-FFF2-40B4-BE49-F238E27FC236}">
                <a16:creationId xmlns:a16="http://schemas.microsoft.com/office/drawing/2014/main" id="{C9CAFF50-DB48-089F-6403-F5B741C2929C}"/>
              </a:ext>
            </a:extLst>
          </p:cNvPr>
          <p:cNvSpPr txBox="1">
            <a:spLocks/>
          </p:cNvSpPr>
          <p:nvPr/>
        </p:nvSpPr>
        <p:spPr>
          <a:xfrm>
            <a:off x="740565" y="4453318"/>
            <a:ext cx="10515600" cy="16881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Helvetica Neue" panose="02000503000000020004"/>
              </a:rPr>
              <a:t>On CURC systems, a running container automatically bind mounts all major filesystems (/home, /projects, /scratch, and /pl/active)</a:t>
            </a:r>
            <a:r>
              <a:rPr lang="en-US" dirty="0">
                <a:latin typeface="Helvetica Neue" panose="02000503000000020004"/>
                <a:ea typeface="Helvetica Neue" panose="02000503000000020004" pitchFamily="2" charset="0"/>
                <a:cs typeface="Helvetica Neue" panose="02000503000000020004" pitchFamily="2" charset="0"/>
              </a:rPr>
              <a:t>. </a:t>
            </a:r>
            <a:r>
              <a:rPr lang="en-US" i="1" dirty="0">
                <a:latin typeface="Helvetica Neue" panose="02000503000000020004"/>
                <a:ea typeface="Helvetica Neue" panose="02000503000000020004" pitchFamily="2" charset="0"/>
                <a:cs typeface="Helvetica Neue" panose="02000503000000020004" pitchFamily="2" charset="0"/>
              </a:rPr>
              <a:t>If you are having an issue seeing a directory, you may need to bind mount it.</a:t>
            </a:r>
            <a:endParaRPr lang="en-US" i="1" dirty="0">
              <a:latin typeface="Helvetica Neue" panose="02000503000000020004"/>
            </a:endParaRPr>
          </a:p>
        </p:txBody>
      </p:sp>
      <p:sp>
        <p:nvSpPr>
          <p:cNvPr id="5" name="Slide Number Placeholder 4">
            <a:extLst>
              <a:ext uri="{FF2B5EF4-FFF2-40B4-BE49-F238E27FC236}">
                <a16:creationId xmlns:a16="http://schemas.microsoft.com/office/drawing/2014/main" id="{7B670F5A-439C-2A49-9B94-908DC2F6ADDB}"/>
              </a:ext>
            </a:extLst>
          </p:cNvPr>
          <p:cNvSpPr>
            <a:spLocks noGrp="1"/>
          </p:cNvSpPr>
          <p:nvPr>
            <p:ph type="sldNum" sz="quarter" idx="12"/>
          </p:nvPr>
        </p:nvSpPr>
        <p:spPr/>
        <p:txBody>
          <a:bodyPr/>
          <a:lstStyle/>
          <a:p>
            <a:fld id="{ABDA560F-461C-6043-9BC4-489BA92F7161}" type="slidenum">
              <a:rPr lang="en-US" smtClean="0"/>
              <a:t>27</a:t>
            </a:fld>
            <a:endParaRPr lang="en-US"/>
          </a:p>
        </p:txBody>
      </p:sp>
      <p:sp>
        <p:nvSpPr>
          <p:cNvPr id="3" name="Rectangle 2">
            <a:extLst>
              <a:ext uri="{FF2B5EF4-FFF2-40B4-BE49-F238E27FC236}">
                <a16:creationId xmlns:a16="http://schemas.microsoft.com/office/drawing/2014/main" id="{088811BA-8EAA-7720-0851-062541097B68}"/>
              </a:ext>
            </a:extLst>
          </p:cNvPr>
          <p:cNvSpPr/>
          <p:nvPr/>
        </p:nvSpPr>
        <p:spPr>
          <a:xfrm>
            <a:off x="838200" y="3576614"/>
            <a:ext cx="9998926"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Courier New" panose="02070309020205020404" pitchFamily="49" charset="0"/>
                <a:cs typeface="Courier New" panose="02070309020205020404" pitchFamily="49" charset="0"/>
              </a:rPr>
              <a:t>$ </a:t>
            </a:r>
            <a:r>
              <a:rPr lang="en-US" b="1" dirty="0" err="1">
                <a:solidFill>
                  <a:schemeClr val="tx1"/>
                </a:solidFill>
                <a:latin typeface="Courier New" panose="02070309020205020404" pitchFamily="49" charset="0"/>
                <a:cs typeface="Courier New" panose="02070309020205020404" pitchFamily="49" charset="0"/>
              </a:rPr>
              <a:t>apptainer</a:t>
            </a:r>
            <a:r>
              <a:rPr lang="en-US" b="1" dirty="0">
                <a:solidFill>
                  <a:schemeClr val="tx1"/>
                </a:solidFill>
                <a:latin typeface="Courier New" panose="02070309020205020404" pitchFamily="49" charset="0"/>
                <a:cs typeface="Courier New" panose="02070309020205020404" pitchFamily="49" charset="0"/>
              </a:rPr>
              <a:t> run -B /source/directory:/target/directory sample-</a:t>
            </a:r>
            <a:r>
              <a:rPr lang="en-US" b="1" dirty="0" err="1">
                <a:solidFill>
                  <a:schemeClr val="tx1"/>
                </a:solidFill>
                <a:latin typeface="Courier New" panose="02070309020205020404" pitchFamily="49" charset="0"/>
                <a:cs typeface="Courier New" panose="02070309020205020404" pitchFamily="49" charset="0"/>
              </a:rPr>
              <a:t>image.sif</a:t>
            </a:r>
            <a:endParaRPr lang="en-US"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9565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838200" y="0"/>
            <a:ext cx="10515600" cy="1325563"/>
          </a:xfrm>
        </p:spPr>
        <p:txBody>
          <a:bodyPr>
            <a:normAutofit/>
          </a:bodyPr>
          <a:lstStyle/>
          <a:p>
            <a:r>
              <a:rPr lang="en-US" b="1" dirty="0"/>
              <a:t>Want to go the extra mile? </a:t>
            </a:r>
          </a:p>
        </p:txBody>
      </p:sp>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502597"/>
            <a:ext cx="10515600" cy="4351338"/>
          </a:xfrm>
        </p:spPr>
        <p:txBody>
          <a:bodyPr vert="horz" lIns="91440" tIns="45720" rIns="91440" bIns="45720" rtlCol="0" anchor="t">
            <a:normAutofit fontScale="85000" lnSpcReduction="10000"/>
          </a:bodyPr>
          <a:lstStyle/>
          <a:p>
            <a:pPr marL="0" indent="0">
              <a:buNone/>
            </a:pPr>
            <a:r>
              <a:rPr lang="en-US" sz="2800" dirty="0">
                <a:latin typeface="Helvetica Neue" panose="02000503000000020004"/>
              </a:rPr>
              <a:t>Try our Hands-on exercise provided in </a:t>
            </a:r>
            <a:r>
              <a:rPr lang="en-US" sz="2800" dirty="0" err="1">
                <a:latin typeface="Helvetica Neue" panose="02000503000000020004"/>
              </a:rPr>
              <a:t>EXERCISES.md</a:t>
            </a:r>
            <a:r>
              <a:rPr lang="en-US" sz="2800" dirty="0">
                <a:latin typeface="Helvetica Neue" panose="02000503000000020004"/>
              </a:rPr>
              <a:t>. </a:t>
            </a:r>
            <a:r>
              <a:rPr lang="en-US" sz="2800" u="sng" dirty="0">
                <a:latin typeface="Helvetica Neue" panose="02000503000000020004"/>
              </a:rPr>
              <a:t>This is not required for the micro-credential. </a:t>
            </a:r>
          </a:p>
          <a:p>
            <a:pPr marL="0" indent="0">
              <a:buNone/>
            </a:pPr>
            <a:endParaRPr lang="en-US" sz="2800" dirty="0">
              <a:latin typeface="Helvetica Neue" panose="02000503000000020004"/>
            </a:endParaRPr>
          </a:p>
          <a:p>
            <a:pPr marL="0" indent="0">
              <a:buNone/>
            </a:pPr>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Become familiar with basic </a:t>
            </a:r>
            <a:r>
              <a:rPr lang="en-US" sz="2800" dirty="0" err="1">
                <a:latin typeface="Helvetica Neue" panose="02000503000000020004"/>
              </a:rPr>
              <a:t>Apptainer</a:t>
            </a:r>
            <a:r>
              <a:rPr lang="en-US" sz="2800" dirty="0">
                <a:latin typeface="Helvetica Neue" panose="02000503000000020004"/>
              </a:rPr>
              <a:t> commands.</a:t>
            </a:r>
          </a:p>
          <a:p>
            <a:pPr marL="514350" indent="-514350">
              <a:buFont typeface="+mj-lt"/>
              <a:buAutoNum type="arabicPeriod"/>
            </a:pPr>
            <a:r>
              <a:rPr lang="en-US" sz="2800" dirty="0">
                <a:latin typeface="Helvetica Neue" panose="02000503000000020004"/>
              </a:rPr>
              <a:t>Pull an image from a pre-built container, then run the program from the container.</a:t>
            </a:r>
            <a:r>
              <a:rPr lang="en-US" dirty="0">
                <a:latin typeface="Helvetica Neue" panose="02000503000000020004"/>
              </a:rPr>
              <a:t> </a:t>
            </a:r>
            <a:endParaRPr lang="en-US" sz="2800" dirty="0">
              <a:latin typeface="Helvetica Neue" panose="02000503000000020004"/>
            </a:endParaRPr>
          </a:p>
          <a:p>
            <a:pPr marL="0" indent="0">
              <a:buNone/>
            </a:pPr>
            <a:endParaRPr lang="en-US" sz="2800" b="1" dirty="0">
              <a:latin typeface="Helvetica Neue" panose="02000503000000020004"/>
            </a:endParaRPr>
          </a:p>
          <a:p>
            <a:pPr marL="0" indent="0">
              <a:buNone/>
            </a:pPr>
            <a:r>
              <a:rPr lang="en-US" sz="2800" b="1" dirty="0">
                <a:latin typeface="Helvetica Neue" panose="02000503000000020004"/>
              </a:rPr>
              <a:t>Estimated time to complete</a:t>
            </a:r>
            <a:r>
              <a:rPr lang="en-US" sz="2800" dirty="0">
                <a:latin typeface="Helvetica Neue" panose="02000503000000020004"/>
              </a:rPr>
              <a:t>: </a:t>
            </a:r>
            <a:r>
              <a:rPr lang="en-US" dirty="0">
                <a:latin typeface="Helvetica Neue" panose="02000503000000020004"/>
              </a:rPr>
              <a:t>20</a:t>
            </a:r>
            <a:r>
              <a:rPr lang="en-US" sz="2800" dirty="0">
                <a:latin typeface="Helvetica Neue" panose="02000503000000020004"/>
              </a:rPr>
              <a:t> minutes</a:t>
            </a:r>
          </a:p>
          <a:p>
            <a:pPr marL="0" indent="0">
              <a:buNone/>
            </a:pPr>
            <a:r>
              <a:rPr lang="en-US" sz="2800" b="1" dirty="0">
                <a:latin typeface="Helvetica Neue" panose="02000503000000020004"/>
              </a:rPr>
              <a:t>Documentation:</a:t>
            </a:r>
          </a:p>
          <a:p>
            <a:pPr marL="0" indent="0">
              <a:buNone/>
            </a:pPr>
            <a:r>
              <a:rPr lang="en-US" b="1" dirty="0">
                <a:latin typeface="Helvetica Neue" panose="02000503000000020004"/>
                <a:hlinkClick r:id="rId2"/>
              </a:rPr>
              <a:t>https://curc.readthedocs.io/en/latest/software/containerization.html</a:t>
            </a:r>
            <a:r>
              <a:rPr lang="en-US" b="1" dirty="0">
                <a:latin typeface="Helvetica Neue" panose="02000503000000020004"/>
              </a:rPr>
              <a:t> </a:t>
            </a:r>
            <a:endParaRPr lang="en-US" sz="2800" b="1" dirty="0">
              <a:latin typeface="Helvetica Neue" panose="02000503000000020004"/>
            </a:endParaRPr>
          </a:p>
        </p:txBody>
      </p:sp>
      <p:sp>
        <p:nvSpPr>
          <p:cNvPr id="5" name="Slide Number Placeholder 4">
            <a:extLst>
              <a:ext uri="{FF2B5EF4-FFF2-40B4-BE49-F238E27FC236}">
                <a16:creationId xmlns:a16="http://schemas.microsoft.com/office/drawing/2014/main" id="{06BC2289-C3A5-DC1F-091C-268ADF72B2CB}"/>
              </a:ext>
            </a:extLst>
          </p:cNvPr>
          <p:cNvSpPr>
            <a:spLocks noGrp="1"/>
          </p:cNvSpPr>
          <p:nvPr>
            <p:ph type="sldNum" sz="quarter" idx="12"/>
          </p:nvPr>
        </p:nvSpPr>
        <p:spPr/>
        <p:txBody>
          <a:bodyPr/>
          <a:lstStyle/>
          <a:p>
            <a:fld id="{ABDA560F-461C-6043-9BC4-489BA92F7161}" type="slidenum">
              <a:rPr lang="en-US" smtClean="0"/>
              <a:t>28</a:t>
            </a:fld>
            <a:endParaRPr lang="en-US"/>
          </a:p>
        </p:txBody>
      </p:sp>
    </p:spTree>
    <p:extLst>
      <p:ext uri="{BB962C8B-B14F-4D97-AF65-F5344CB8AC3E}">
        <p14:creationId xmlns:p14="http://schemas.microsoft.com/office/powerpoint/2010/main" val="2569374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19"/>
          <p:cNvSpPr txBox="1">
            <a:spLocks noGrp="1"/>
          </p:cNvSpPr>
          <p:nvPr>
            <p:ph type="sldNum" idx="12"/>
          </p:nvPr>
        </p:nvSpPr>
        <p:spPr>
          <a:xfrm>
            <a:off x="8610600" y="6356350"/>
            <a:ext cx="6828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US"/>
              <a:t>29</a:t>
            </a:fld>
            <a:endParaRPr/>
          </a:p>
        </p:txBody>
      </p:sp>
      <p:sp>
        <p:nvSpPr>
          <p:cNvPr id="136" name="Google Shape;136;p19"/>
          <p:cNvSpPr txBox="1"/>
          <p:nvPr/>
        </p:nvSpPr>
        <p:spPr>
          <a:xfrm>
            <a:off x="4416291" y="4683960"/>
            <a:ext cx="3359418" cy="6770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200" b="1" dirty="0">
                <a:latin typeface="Helvetica Neue"/>
                <a:ea typeface="Helvetica Neue"/>
                <a:cs typeface="Helvetica Neue"/>
                <a:sym typeface="Helvetica Neue"/>
              </a:rPr>
              <a:t>Any Questions</a:t>
            </a:r>
            <a:endParaRPr sz="3200" b="1" dirty="0">
              <a:latin typeface="Helvetica Neue"/>
              <a:ea typeface="Helvetica Neue"/>
              <a:cs typeface="Helvetica Neue"/>
              <a:sym typeface="Helvetica Neue"/>
            </a:endParaRPr>
          </a:p>
        </p:txBody>
      </p:sp>
      <p:pic>
        <p:nvPicPr>
          <p:cNvPr id="5" name="Graphic 4" descr="Questions with solid fill">
            <a:extLst>
              <a:ext uri="{FF2B5EF4-FFF2-40B4-BE49-F238E27FC236}">
                <a16:creationId xmlns:a16="http://schemas.microsoft.com/office/drawing/2014/main" id="{81316737-E39C-896D-10BE-E6C435DF9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8600" y="751288"/>
            <a:ext cx="4114800" cy="4114800"/>
          </a:xfrm>
          <a:prstGeom prst="rect">
            <a:avLst/>
          </a:prstGeom>
        </p:spPr>
      </p:pic>
    </p:spTree>
  </p:cSld>
  <p:clrMapOvr>
    <a:masterClrMapping/>
  </p:clrMapOvr>
</p:sld>
</file>

<file path=ppt/theme/theme1.xml><?xml version="1.0" encoding="utf-8"?>
<a:theme xmlns:a="http://schemas.openxmlformats.org/drawingml/2006/main" name="CUB Content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7320DB280744439FF1CC777D09ECA4" ma:contentTypeVersion="15" ma:contentTypeDescription="Create a new document." ma:contentTypeScope="" ma:versionID="e50b92032c956cc777cf00ac7d475189">
  <xsd:schema xmlns:xsd="http://www.w3.org/2001/XMLSchema" xmlns:xs="http://www.w3.org/2001/XMLSchema" xmlns:p="http://schemas.microsoft.com/office/2006/metadata/properties" xmlns:ns2="7e49f7d3-8802-46ca-9604-495ce27f67f4" xmlns:ns3="a1519f9a-9d6a-41c1-afc9-552e4069f82f" xmlns:ns4="92c16b9d-8c83-445e-a4f4-1fe3d2f43f13" targetNamespace="http://schemas.microsoft.com/office/2006/metadata/properties" ma:root="true" ma:fieldsID="fcd7cab68a23f1df7b42ced4f3edf141" ns2:_="" ns3:_="" ns4:_="">
    <xsd:import namespace="7e49f7d3-8802-46ca-9604-495ce27f67f4"/>
    <xsd:import namespace="a1519f9a-9d6a-41c1-afc9-552e4069f82f"/>
    <xsd:import namespace="92c16b9d-8c83-445e-a4f4-1fe3d2f43f1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49f7d3-8802-46ca-9604-495ce27f67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2802cc5-2881-4dd7-9d75-38905e9cf7f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519f9a-9d6a-41c1-afc9-552e4069f82f"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2c16b9d-8c83-445e-a4f4-1fe3d2f43f1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5373c19-887a-4e93-8582-23ebe3fe2f18}" ma:internalName="TaxCatchAll" ma:showField="CatchAllData" ma:web="a1519f9a-9d6a-41c1-afc9-552e4069f8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2c16b9d-8c83-445e-a4f4-1fe3d2f43f13" xsi:nil="true"/>
    <lcf76f155ced4ddcb4097134ff3c332f xmlns="7e49f7d3-8802-46ca-9604-495ce27f67f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B4C708-AA43-4CE7-BE2D-F9D9A02F4940}">
  <ds:schemaRefs>
    <ds:schemaRef ds:uri="http://schemas.microsoft.com/sharepoint/v3/contenttype/forms"/>
  </ds:schemaRefs>
</ds:datastoreItem>
</file>

<file path=customXml/itemProps2.xml><?xml version="1.0" encoding="utf-8"?>
<ds:datastoreItem xmlns:ds="http://schemas.openxmlformats.org/officeDocument/2006/customXml" ds:itemID="{6BBC22CE-40EC-4545-8FE9-90326628051D}">
  <ds:schemaRefs>
    <ds:schemaRef ds:uri="7e49f7d3-8802-46ca-9604-495ce27f67f4"/>
    <ds:schemaRef ds:uri="92c16b9d-8c83-445e-a4f4-1fe3d2f43f13"/>
    <ds:schemaRef ds:uri="a1519f9a-9d6a-41c1-afc9-552e4069f8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AB02FF4-25A1-49FE-9DF7-DD19F525B7FA}">
  <ds:schemaRefs>
    <ds:schemaRef ds:uri="7e49f7d3-8802-46ca-9604-495ce27f67f4"/>
    <ds:schemaRef ds:uri="92c16b9d-8c83-445e-a4f4-1fe3d2f43f13"/>
    <ds:schemaRef ds:uri="a1519f9a-9d6a-41c1-afc9-552e4069f82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4243</TotalTime>
  <Words>2353</Words>
  <Application>Microsoft Macintosh PowerPoint</Application>
  <PresentationFormat>Widescreen</PresentationFormat>
  <Paragraphs>322</Paragraphs>
  <Slides>29</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Century Gothic</vt:lpstr>
      <vt:lpstr>Courier New</vt:lpstr>
      <vt:lpstr>Google Sans</vt:lpstr>
      <vt:lpstr>Google Sans Text</vt:lpstr>
      <vt:lpstr>Helvetica</vt:lpstr>
      <vt:lpstr>Helvetica Neue</vt:lpstr>
      <vt:lpstr>Lato</vt:lpstr>
      <vt:lpstr>Monaco</vt:lpstr>
      <vt:lpstr>CUB Content </vt:lpstr>
      <vt:lpstr>Module 4: Finding, Downloading, and Applying Software on CURC Resources</vt:lpstr>
      <vt:lpstr>Session Overview </vt:lpstr>
      <vt:lpstr>The Module System </vt:lpstr>
      <vt:lpstr>The Module System </vt:lpstr>
      <vt:lpstr>The Module System </vt:lpstr>
      <vt:lpstr>The Module System </vt:lpstr>
      <vt:lpstr>The Module System </vt:lpstr>
      <vt:lpstr>Virtual Environments</vt:lpstr>
      <vt:lpstr>Virtual Environments  Conda</vt:lpstr>
      <vt:lpstr>Virtual Environments Conda</vt:lpstr>
      <vt:lpstr>Virtual Environments Conda</vt:lpstr>
      <vt:lpstr>Virtual Environments Conda</vt:lpstr>
      <vt:lpstr>Virtual Environments Conda</vt:lpstr>
      <vt:lpstr>Want to go the extra mile? </vt:lpstr>
      <vt:lpstr>Requesting Software Installations</vt:lpstr>
      <vt:lpstr>Advanced Topics</vt:lpstr>
      <vt:lpstr>Simplifying Installations with Spack</vt:lpstr>
      <vt:lpstr>Simplifying Installations with Spack </vt:lpstr>
      <vt:lpstr>Simplifying Installations with Spack </vt:lpstr>
      <vt:lpstr>Simplifying Installations with Spack</vt:lpstr>
      <vt:lpstr>Simplifying Installations with Spack</vt:lpstr>
      <vt:lpstr>Simplifying Installations with Spack</vt:lpstr>
      <vt:lpstr>Want to go the extra mile? </vt:lpstr>
      <vt:lpstr>Containerization with</vt:lpstr>
      <vt:lpstr>Containerization with Apptainer </vt:lpstr>
      <vt:lpstr>Containerization with Apptainer </vt:lpstr>
      <vt:lpstr>Containerization with Apptainer </vt:lpstr>
      <vt:lpstr>Want to go the extra mile?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CURC Alpine Allocations</dc:title>
  <dc:creator>Layla Freeborn</dc:creator>
  <cp:lastModifiedBy>Brandon Reyes</cp:lastModifiedBy>
  <cp:revision>61</cp:revision>
  <dcterms:created xsi:type="dcterms:W3CDTF">2023-01-13T17:07:22Z</dcterms:created>
  <dcterms:modified xsi:type="dcterms:W3CDTF">2026-08-07T20:40:32Z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0x010100DC7320DB280744439FF1CC777D09ECA4</vt:lpwstr>
  </property>
</Properties>
</file>